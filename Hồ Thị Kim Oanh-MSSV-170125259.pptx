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ptos Bold" panose="020B0604020202020204" charset="0"/>
      <p:regular r:id="rId22"/>
    </p:embeddedFont>
    <p:embeddedFont>
      <p:font typeface="Noto Sans" panose="020B0502040504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5" d="100"/>
          <a:sy n="25" d="100"/>
        </p:scale>
        <p:origin x="2386" y="7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73617" y="0"/>
            <a:ext cx="6424108" cy="10295039"/>
            <a:chOff x="0" y="0"/>
            <a:chExt cx="8565477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65515" cy="13726668"/>
            </a:xfrm>
            <a:custGeom>
              <a:avLst/>
              <a:gdLst/>
              <a:ahLst/>
              <a:cxnLst/>
              <a:rect l="l" t="t" r="r" b="b"/>
              <a:pathLst>
                <a:path w="8565515" h="13726668">
                  <a:moveTo>
                    <a:pt x="0" y="0"/>
                  </a:moveTo>
                  <a:lnTo>
                    <a:pt x="8565515" y="0"/>
                  </a:lnTo>
                  <a:lnTo>
                    <a:pt x="8565515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9344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22686" y="960872"/>
            <a:ext cx="466706" cy="3019882"/>
            <a:chOff x="0" y="0"/>
            <a:chExt cx="622275" cy="40265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2300" cy="4026535"/>
            </a:xfrm>
            <a:custGeom>
              <a:avLst/>
              <a:gdLst/>
              <a:ahLst/>
              <a:cxnLst/>
              <a:rect l="l" t="t" r="r" b="b"/>
              <a:pathLst>
                <a:path w="622300" h="4026535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47624" y="0"/>
                  </a:lnTo>
                  <a:cubicBezTo>
                    <a:pt x="588899" y="0"/>
                    <a:pt x="622300" y="33401"/>
                    <a:pt x="622300" y="74676"/>
                  </a:cubicBezTo>
                  <a:lnTo>
                    <a:pt x="622300" y="3951859"/>
                  </a:lnTo>
                  <a:cubicBezTo>
                    <a:pt x="622300" y="3993134"/>
                    <a:pt x="588899" y="4026535"/>
                    <a:pt x="547624" y="4026535"/>
                  </a:cubicBezTo>
                  <a:lnTo>
                    <a:pt x="74676" y="4026535"/>
                  </a:lnTo>
                  <a:cubicBezTo>
                    <a:pt x="33401" y="4026535"/>
                    <a:pt x="0" y="3993134"/>
                    <a:pt x="0" y="395185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24735" y="960872"/>
            <a:ext cx="466706" cy="3019882"/>
            <a:chOff x="0" y="0"/>
            <a:chExt cx="622275" cy="4026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2300" cy="4026535"/>
            </a:xfrm>
            <a:custGeom>
              <a:avLst/>
              <a:gdLst/>
              <a:ahLst/>
              <a:cxnLst/>
              <a:rect l="l" t="t" r="r" b="b"/>
              <a:pathLst>
                <a:path w="622300" h="4026535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47624" y="0"/>
                  </a:lnTo>
                  <a:cubicBezTo>
                    <a:pt x="588899" y="0"/>
                    <a:pt x="622300" y="33401"/>
                    <a:pt x="622300" y="74676"/>
                  </a:cubicBezTo>
                  <a:lnTo>
                    <a:pt x="622300" y="3951859"/>
                  </a:lnTo>
                  <a:cubicBezTo>
                    <a:pt x="622300" y="3993134"/>
                    <a:pt x="588899" y="4026535"/>
                    <a:pt x="547624" y="4026535"/>
                  </a:cubicBezTo>
                  <a:lnTo>
                    <a:pt x="74676" y="4026535"/>
                  </a:lnTo>
                  <a:cubicBezTo>
                    <a:pt x="33401" y="4026535"/>
                    <a:pt x="0" y="3993134"/>
                    <a:pt x="0" y="3951859"/>
                  </a:cubicBezTo>
                  <a:close/>
                </a:path>
              </a:pathLst>
            </a:custGeom>
            <a:solidFill>
              <a:srgbClr val="2B4B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426784" y="960872"/>
            <a:ext cx="466706" cy="3019882"/>
            <a:chOff x="0" y="0"/>
            <a:chExt cx="622275" cy="40265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2300" cy="4026535"/>
            </a:xfrm>
            <a:custGeom>
              <a:avLst/>
              <a:gdLst/>
              <a:ahLst/>
              <a:cxnLst/>
              <a:rect l="l" t="t" r="r" b="b"/>
              <a:pathLst>
                <a:path w="622300" h="4026535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47624" y="0"/>
                  </a:lnTo>
                  <a:cubicBezTo>
                    <a:pt x="588899" y="0"/>
                    <a:pt x="622300" y="33401"/>
                    <a:pt x="622300" y="74676"/>
                  </a:cubicBezTo>
                  <a:lnTo>
                    <a:pt x="622300" y="3951859"/>
                  </a:lnTo>
                  <a:cubicBezTo>
                    <a:pt x="622300" y="3993134"/>
                    <a:pt x="588899" y="4026535"/>
                    <a:pt x="547624" y="4026535"/>
                  </a:cubicBezTo>
                  <a:lnTo>
                    <a:pt x="74676" y="4026535"/>
                  </a:lnTo>
                  <a:cubicBezTo>
                    <a:pt x="33401" y="4026535"/>
                    <a:pt x="0" y="3993134"/>
                    <a:pt x="0" y="3951859"/>
                  </a:cubicBezTo>
                  <a:close/>
                </a:path>
              </a:pathLst>
            </a:custGeom>
            <a:solidFill>
              <a:srgbClr val="2B4B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428833" y="960872"/>
            <a:ext cx="466706" cy="3019882"/>
            <a:chOff x="0" y="0"/>
            <a:chExt cx="622275" cy="40265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2300" cy="4026535"/>
            </a:xfrm>
            <a:custGeom>
              <a:avLst/>
              <a:gdLst/>
              <a:ahLst/>
              <a:cxnLst/>
              <a:rect l="l" t="t" r="r" b="b"/>
              <a:pathLst>
                <a:path w="622300" h="4026535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47624" y="0"/>
                  </a:lnTo>
                  <a:cubicBezTo>
                    <a:pt x="588899" y="0"/>
                    <a:pt x="622300" y="33401"/>
                    <a:pt x="622300" y="74676"/>
                  </a:cubicBezTo>
                  <a:lnTo>
                    <a:pt x="622300" y="3951859"/>
                  </a:lnTo>
                  <a:cubicBezTo>
                    <a:pt x="622300" y="3993134"/>
                    <a:pt x="588899" y="4026535"/>
                    <a:pt x="547624" y="4026535"/>
                  </a:cubicBezTo>
                  <a:lnTo>
                    <a:pt x="74676" y="4026535"/>
                  </a:lnTo>
                  <a:cubicBezTo>
                    <a:pt x="33401" y="4026535"/>
                    <a:pt x="0" y="3993134"/>
                    <a:pt x="0" y="395185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30892" y="960872"/>
            <a:ext cx="466706" cy="3019882"/>
            <a:chOff x="0" y="0"/>
            <a:chExt cx="622275" cy="40265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2300" cy="4026535"/>
            </a:xfrm>
            <a:custGeom>
              <a:avLst/>
              <a:gdLst/>
              <a:ahLst/>
              <a:cxnLst/>
              <a:rect l="l" t="t" r="r" b="b"/>
              <a:pathLst>
                <a:path w="622300" h="4026535">
                  <a:moveTo>
                    <a:pt x="0" y="74676"/>
                  </a:moveTo>
                  <a:cubicBezTo>
                    <a:pt x="0" y="33401"/>
                    <a:pt x="33401" y="0"/>
                    <a:pt x="74676" y="0"/>
                  </a:cubicBezTo>
                  <a:lnTo>
                    <a:pt x="547624" y="0"/>
                  </a:lnTo>
                  <a:cubicBezTo>
                    <a:pt x="588899" y="0"/>
                    <a:pt x="622300" y="33401"/>
                    <a:pt x="622300" y="74676"/>
                  </a:cubicBezTo>
                  <a:lnTo>
                    <a:pt x="622300" y="3951859"/>
                  </a:lnTo>
                  <a:cubicBezTo>
                    <a:pt x="622300" y="3993134"/>
                    <a:pt x="588899" y="4026535"/>
                    <a:pt x="547624" y="4026535"/>
                  </a:cubicBezTo>
                  <a:lnTo>
                    <a:pt x="74676" y="4026535"/>
                  </a:lnTo>
                  <a:cubicBezTo>
                    <a:pt x="33401" y="4026535"/>
                    <a:pt x="0" y="3993134"/>
                    <a:pt x="0" y="3951859"/>
                  </a:cubicBezTo>
                  <a:close/>
                </a:path>
              </a:pathLst>
            </a:custGeom>
            <a:solidFill>
              <a:srgbClr val="2B4B5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54049" y="4461186"/>
            <a:ext cx="5147520" cy="109814"/>
            <a:chOff x="0" y="0"/>
            <a:chExt cx="6863359" cy="1464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63334" cy="146431"/>
            </a:xfrm>
            <a:custGeom>
              <a:avLst/>
              <a:gdLst/>
              <a:ahLst/>
              <a:cxnLst/>
              <a:rect l="l" t="t" r="r" b="b"/>
              <a:pathLst>
                <a:path w="6863334" h="146431">
                  <a:moveTo>
                    <a:pt x="0" y="0"/>
                  </a:moveTo>
                  <a:lnTo>
                    <a:pt x="6863334" y="0"/>
                  </a:lnTo>
                  <a:lnTo>
                    <a:pt x="6863334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97216" y="5147520"/>
            <a:ext cx="494167" cy="521618"/>
            <a:chOff x="0" y="0"/>
            <a:chExt cx="658889" cy="695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85549" y="5147520"/>
            <a:ext cx="494167" cy="521618"/>
            <a:chOff x="0" y="0"/>
            <a:chExt cx="658889" cy="6954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673872" y="5147520"/>
            <a:ext cx="494167" cy="521618"/>
            <a:chOff x="0" y="0"/>
            <a:chExt cx="658889" cy="6954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5662196" y="5147520"/>
            <a:ext cx="494167" cy="521618"/>
            <a:chOff x="0" y="0"/>
            <a:chExt cx="658889" cy="6954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697216" y="6108392"/>
            <a:ext cx="494167" cy="521618"/>
            <a:chOff x="0" y="0"/>
            <a:chExt cx="658889" cy="6954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685549" y="6108392"/>
            <a:ext cx="494167" cy="521618"/>
            <a:chOff x="0" y="0"/>
            <a:chExt cx="658889" cy="69549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673872" y="6108392"/>
            <a:ext cx="494167" cy="521618"/>
            <a:chOff x="0" y="0"/>
            <a:chExt cx="658889" cy="69549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662196" y="6108392"/>
            <a:ext cx="494167" cy="521618"/>
            <a:chOff x="0" y="0"/>
            <a:chExt cx="658889" cy="6954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697216" y="7069264"/>
            <a:ext cx="494167" cy="521618"/>
            <a:chOff x="0" y="0"/>
            <a:chExt cx="658889" cy="6954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685549" y="7069264"/>
            <a:ext cx="494167" cy="521618"/>
            <a:chOff x="0" y="0"/>
            <a:chExt cx="658889" cy="69549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673872" y="7069264"/>
            <a:ext cx="494167" cy="521618"/>
            <a:chOff x="0" y="0"/>
            <a:chExt cx="658889" cy="69549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662196" y="7069264"/>
            <a:ext cx="494167" cy="521618"/>
            <a:chOff x="0" y="0"/>
            <a:chExt cx="658889" cy="6954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58876" cy="695579"/>
            </a:xfrm>
            <a:custGeom>
              <a:avLst/>
              <a:gdLst/>
              <a:ahLst/>
              <a:cxnLst/>
              <a:rect l="l" t="t" r="r" b="b"/>
              <a:pathLst>
                <a:path w="658876" h="695579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579755" y="0"/>
                  </a:lnTo>
                  <a:cubicBezTo>
                    <a:pt x="623443" y="0"/>
                    <a:pt x="658876" y="35433"/>
                    <a:pt x="658876" y="79121"/>
                  </a:cubicBezTo>
                  <a:lnTo>
                    <a:pt x="658876" y="616458"/>
                  </a:lnTo>
                  <a:cubicBezTo>
                    <a:pt x="658876" y="660146"/>
                    <a:pt x="623443" y="695579"/>
                    <a:pt x="579755" y="695579"/>
                  </a:cubicBezTo>
                  <a:lnTo>
                    <a:pt x="79121" y="695579"/>
                  </a:lnTo>
                  <a:cubicBezTo>
                    <a:pt x="35433" y="695452"/>
                    <a:pt x="0" y="660146"/>
                    <a:pt x="0" y="616458"/>
                  </a:cubicBezTo>
                  <a:close/>
                </a:path>
              </a:pathLst>
            </a:custGeom>
            <a:solidFill>
              <a:srgbClr val="4060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28700" y="6829227"/>
            <a:ext cx="1509941" cy="96088"/>
            <a:chOff x="0" y="0"/>
            <a:chExt cx="2013255" cy="12811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013204" cy="128143"/>
            </a:xfrm>
            <a:custGeom>
              <a:avLst/>
              <a:gdLst/>
              <a:ahLst/>
              <a:cxnLst/>
              <a:rect l="l" t="t" r="r" b="b"/>
              <a:pathLst>
                <a:path w="2013204" h="128143">
                  <a:moveTo>
                    <a:pt x="0" y="0"/>
                  </a:moveTo>
                  <a:lnTo>
                    <a:pt x="2013204" y="0"/>
                  </a:lnTo>
                  <a:lnTo>
                    <a:pt x="2013204" y="128143"/>
                  </a:lnTo>
                  <a:lnTo>
                    <a:pt x="0" y="128143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Freeform 44"/>
          <p:cNvSpPr/>
          <p:nvPr/>
        </p:nvSpPr>
        <p:spPr>
          <a:xfrm>
            <a:off x="5289882" y="1028700"/>
            <a:ext cx="1955774" cy="1955774"/>
          </a:xfrm>
          <a:custGeom>
            <a:avLst/>
            <a:gdLst/>
            <a:ahLst/>
            <a:cxnLst/>
            <a:rect l="l" t="t" r="r" b="b"/>
            <a:pathLst>
              <a:path w="1955774" h="1955774">
                <a:moveTo>
                  <a:pt x="0" y="0"/>
                </a:moveTo>
                <a:lnTo>
                  <a:pt x="1955774" y="0"/>
                </a:lnTo>
                <a:lnTo>
                  <a:pt x="1955774" y="1955774"/>
                </a:lnTo>
                <a:lnTo>
                  <a:pt x="0" y="1955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028700" y="5065428"/>
            <a:ext cx="992907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E0B15B"/>
                </a:solidFill>
                <a:latin typeface="Aptos Bold"/>
                <a:ea typeface="Aptos Bold"/>
                <a:cs typeface="Aptos Bold"/>
                <a:sym typeface="Aptos Bold"/>
              </a:rPr>
              <a:t>ĐỒ ÁN HỌC PHẦN  |  CHUYÊN ĐỀ ASP.NET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" y="5908367"/>
            <a:ext cx="1047813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XÂY DỰNG WEBSITE  ĐẶT PHÒNG KHÁCH SẠN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8700" y="7070129"/>
            <a:ext cx="787006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502" b="1">
                <a:solidFill>
                  <a:srgbClr val="AADED7"/>
                </a:solidFill>
                <a:latin typeface="Aptos Bold"/>
                <a:ea typeface="Aptos Bold"/>
                <a:cs typeface="Aptos Bold"/>
                <a:sym typeface="Aptos Bold"/>
              </a:rPr>
              <a:t>HotelBooking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638030" y="3198146"/>
            <a:ext cx="7259479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AEC2CD"/>
                </a:solidFill>
                <a:latin typeface="Aptos Bold"/>
                <a:ea typeface="Aptos Bold"/>
                <a:cs typeface="Aptos Bold"/>
                <a:sym typeface="Aptos Bold"/>
              </a:rPr>
              <a:t>ĐẠI HỌC TRÀ VINH</a:t>
            </a:r>
          </a:p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AEC2CD"/>
                </a:solidFill>
                <a:latin typeface="Aptos Bold"/>
                <a:ea typeface="Aptos Bold"/>
                <a:cs typeface="Aptos Bold"/>
                <a:sym typeface="Aptos Bold"/>
              </a:rPr>
              <a:t>TRƯỜNG KỸ THUẬT VÀ CÔNG NGHỆ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700" y="8563919"/>
            <a:ext cx="933417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Sinh viên: Hồ Thị Kim Oanh  •  MSSV: 170125259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28700" y="8032154"/>
            <a:ext cx="933417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Lớp: DK25TTC3  |  GVHD: TS. Nguyễn Nhứt Lam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1499" y="584597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NỘI DUNG TRÌNH BÀY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35402" y="2127647"/>
            <a:ext cx="933421" cy="933421"/>
            <a:chOff x="0" y="0"/>
            <a:chExt cx="1244562" cy="12445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4600" cy="1244600"/>
            </a:xfrm>
            <a:custGeom>
              <a:avLst/>
              <a:gdLst/>
              <a:ahLst/>
              <a:cxnLst/>
              <a:rect l="l" t="t" r="r" b="b"/>
              <a:pathLst>
                <a:path w="1244600" h="124460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1095248" y="0"/>
                  </a:lnTo>
                  <a:cubicBezTo>
                    <a:pt x="1177671" y="0"/>
                    <a:pt x="1244600" y="66802"/>
                    <a:pt x="1244600" y="149352"/>
                  </a:cubicBezTo>
                  <a:lnTo>
                    <a:pt x="1244600" y="1095248"/>
                  </a:lnTo>
                  <a:cubicBezTo>
                    <a:pt x="1244600" y="1177671"/>
                    <a:pt x="1177671" y="1244600"/>
                    <a:pt x="1095248" y="1244600"/>
                  </a:cubicBezTo>
                  <a:lnTo>
                    <a:pt x="149352" y="1244600"/>
                  </a:lnTo>
                  <a:cubicBezTo>
                    <a:pt x="66802" y="1244600"/>
                    <a:pt x="0" y="1177671"/>
                    <a:pt x="0" y="109524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81083" y="2413597"/>
            <a:ext cx="423917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5160" y="2361209"/>
            <a:ext cx="3510839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Bối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cảnh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mục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tiêu</a:t>
            </a:r>
            <a:endParaRPr lang="en-US" sz="3000" b="1" dirty="0">
              <a:solidFill>
                <a:srgbClr val="102338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909083" y="2418145"/>
            <a:ext cx="883093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Lý do chọn đề tài, phạm vi và tác nhân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35402" y="3527765"/>
            <a:ext cx="933421" cy="933421"/>
            <a:chOff x="0" y="0"/>
            <a:chExt cx="1244562" cy="12445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4600" cy="1244600"/>
            </a:xfrm>
            <a:custGeom>
              <a:avLst/>
              <a:gdLst/>
              <a:ahLst/>
              <a:cxnLst/>
              <a:rect l="l" t="t" r="r" b="b"/>
              <a:pathLst>
                <a:path w="1244600" h="124460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1095248" y="0"/>
                  </a:lnTo>
                  <a:cubicBezTo>
                    <a:pt x="1177671" y="0"/>
                    <a:pt x="1244600" y="66802"/>
                    <a:pt x="1244600" y="149352"/>
                  </a:cubicBezTo>
                  <a:lnTo>
                    <a:pt x="1244600" y="1095248"/>
                  </a:lnTo>
                  <a:cubicBezTo>
                    <a:pt x="1244600" y="1177671"/>
                    <a:pt x="1177671" y="1244600"/>
                    <a:pt x="1095248" y="1244600"/>
                  </a:cubicBezTo>
                  <a:lnTo>
                    <a:pt x="149352" y="1244600"/>
                  </a:lnTo>
                  <a:cubicBezTo>
                    <a:pt x="66802" y="1244600"/>
                    <a:pt x="0" y="1177671"/>
                    <a:pt x="0" y="109524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32508" y="3818268"/>
            <a:ext cx="372492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88257" y="3765880"/>
            <a:ext cx="301609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Nền tảng kỹ thuật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09083" y="3818268"/>
            <a:ext cx="883093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ASP.NET Core MVC, dữ liệu và bảo mật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35402" y="4927892"/>
            <a:ext cx="933421" cy="933421"/>
            <a:chOff x="0" y="0"/>
            <a:chExt cx="1244562" cy="12445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4600" cy="1244600"/>
            </a:xfrm>
            <a:custGeom>
              <a:avLst/>
              <a:gdLst/>
              <a:ahLst/>
              <a:cxnLst/>
              <a:rect l="l" t="t" r="r" b="b"/>
              <a:pathLst>
                <a:path w="1244600" h="124460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1095248" y="0"/>
                  </a:lnTo>
                  <a:cubicBezTo>
                    <a:pt x="1177671" y="0"/>
                    <a:pt x="1244600" y="66802"/>
                    <a:pt x="1244600" y="149352"/>
                  </a:cubicBezTo>
                  <a:lnTo>
                    <a:pt x="1244600" y="1095248"/>
                  </a:lnTo>
                  <a:cubicBezTo>
                    <a:pt x="1244600" y="1177671"/>
                    <a:pt x="1177671" y="1244600"/>
                    <a:pt x="1095248" y="1244600"/>
                  </a:cubicBezTo>
                  <a:lnTo>
                    <a:pt x="149352" y="1244600"/>
                  </a:lnTo>
                  <a:cubicBezTo>
                    <a:pt x="66802" y="1244600"/>
                    <a:pt x="0" y="1177671"/>
                    <a:pt x="0" y="109524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32508" y="5218390"/>
            <a:ext cx="372492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85161" y="5143500"/>
            <a:ext cx="33379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Phân tích &amp; thiết kế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09083" y="5195887"/>
            <a:ext cx="883093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Yêu cầu, kiến trúc, dữ liệu và luồng đặt phòng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35402" y="6328019"/>
            <a:ext cx="933421" cy="933421"/>
            <a:chOff x="0" y="0"/>
            <a:chExt cx="1244562" cy="124456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4600" cy="1244600"/>
            </a:xfrm>
            <a:custGeom>
              <a:avLst/>
              <a:gdLst/>
              <a:ahLst/>
              <a:cxnLst/>
              <a:rect l="l" t="t" r="r" b="b"/>
              <a:pathLst>
                <a:path w="1244600" h="124460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1095248" y="0"/>
                  </a:lnTo>
                  <a:cubicBezTo>
                    <a:pt x="1177671" y="0"/>
                    <a:pt x="1244600" y="66802"/>
                    <a:pt x="1244600" y="149352"/>
                  </a:cubicBezTo>
                  <a:lnTo>
                    <a:pt x="1244600" y="1095248"/>
                  </a:lnTo>
                  <a:cubicBezTo>
                    <a:pt x="1244600" y="1177671"/>
                    <a:pt x="1177671" y="1244600"/>
                    <a:pt x="1095248" y="1244600"/>
                  </a:cubicBezTo>
                  <a:lnTo>
                    <a:pt x="149352" y="1244600"/>
                  </a:lnTo>
                  <a:cubicBezTo>
                    <a:pt x="66802" y="1244600"/>
                    <a:pt x="0" y="1177671"/>
                    <a:pt x="0" y="109524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32508" y="6618518"/>
            <a:ext cx="372492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85161" y="6566130"/>
            <a:ext cx="301918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Kết quả triển khai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9083" y="6618518"/>
            <a:ext cx="883093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Giao diện khách hàng và quản trị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35402" y="7728147"/>
            <a:ext cx="933421" cy="933421"/>
            <a:chOff x="0" y="0"/>
            <a:chExt cx="1244562" cy="12445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44600" cy="1244600"/>
            </a:xfrm>
            <a:custGeom>
              <a:avLst/>
              <a:gdLst/>
              <a:ahLst/>
              <a:cxnLst/>
              <a:rect l="l" t="t" r="r" b="b"/>
              <a:pathLst>
                <a:path w="1244600" h="124460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1095248" y="0"/>
                  </a:lnTo>
                  <a:cubicBezTo>
                    <a:pt x="1177671" y="0"/>
                    <a:pt x="1244600" y="66802"/>
                    <a:pt x="1244600" y="149352"/>
                  </a:cubicBezTo>
                  <a:lnTo>
                    <a:pt x="1244600" y="1095248"/>
                  </a:lnTo>
                  <a:cubicBezTo>
                    <a:pt x="1244600" y="1177671"/>
                    <a:pt x="1177671" y="1244600"/>
                    <a:pt x="1095248" y="1244600"/>
                  </a:cubicBezTo>
                  <a:lnTo>
                    <a:pt x="149352" y="1244600"/>
                  </a:lnTo>
                  <a:cubicBezTo>
                    <a:pt x="66802" y="1244600"/>
                    <a:pt x="0" y="1177671"/>
                    <a:pt x="0" y="1095248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32508" y="8018645"/>
            <a:ext cx="372492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88257" y="7966258"/>
            <a:ext cx="142732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Kết luận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09083" y="8018645"/>
            <a:ext cx="883093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Hạn chế và hướng phát triển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TỔNG QUAN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857" y="2036093"/>
            <a:ext cx="1569429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HotelBooking là website hỗ trợ tìm kiếm, đặt phòng và quản lý lưu trú trong phạm vi một khách sạn.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8137" y="3500314"/>
            <a:ext cx="5147520" cy="3225784"/>
            <a:chOff x="0" y="0"/>
            <a:chExt cx="6863359" cy="43010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8137" y="3500314"/>
            <a:ext cx="96088" cy="3225784"/>
            <a:chOff x="0" y="0"/>
            <a:chExt cx="128118" cy="4301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45847" y="3765661"/>
            <a:ext cx="243863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KHÁCH HÀNG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5847" y="4351706"/>
            <a:ext cx="450701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Tra cứu loại phòng • chọn ngày và số khách • đặt phòng • theo dõi lịch đặt • gửi đánh giá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88824" y="3500314"/>
            <a:ext cx="5147520" cy="3225784"/>
            <a:chOff x="0" y="0"/>
            <a:chExt cx="6863359" cy="43010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88824" y="3500314"/>
            <a:ext cx="96088" cy="3225784"/>
            <a:chOff x="0" y="0"/>
            <a:chExt cx="128118" cy="43010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36534" y="3765661"/>
            <a:ext cx="2664666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QUẢN TRỊ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6534" y="4351706"/>
            <a:ext cx="450701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Quản lý loại phòng, phòng vật lý, tài khoản, trạng thái đặt phòng và thống kê doanh thu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79519" y="3500314"/>
            <a:ext cx="5147520" cy="3225784"/>
            <a:chOff x="0" y="0"/>
            <a:chExt cx="6863359" cy="43010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79519" y="3500314"/>
            <a:ext cx="96088" cy="3225784"/>
            <a:chOff x="0" y="0"/>
            <a:chExt cx="128118" cy="430104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C260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427229" y="3765661"/>
            <a:ext cx="412539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TRỌNG TÂM NGHIỆP VỤ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27229" y="4351706"/>
            <a:ext cx="450701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Kiểm tra phòng trống theo khoảng ngày, phân bổ phòng và ngăn đặt trùng lịch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BỐI CẢNH VÀ MỤC TIÊU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98137" y="2127647"/>
            <a:ext cx="7755598" cy="2813980"/>
            <a:chOff x="0" y="0"/>
            <a:chExt cx="10340797" cy="37519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40722" cy="3751961"/>
            </a:xfrm>
            <a:custGeom>
              <a:avLst/>
              <a:gdLst/>
              <a:ahLst/>
              <a:cxnLst/>
              <a:rect l="l" t="t" r="r" b="b"/>
              <a:pathLst>
                <a:path w="10340722" h="3751961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9890506" y="0"/>
                  </a:lnTo>
                  <a:cubicBezTo>
                    <a:pt x="10139173" y="0"/>
                    <a:pt x="10340722" y="201549"/>
                    <a:pt x="10340722" y="450215"/>
                  </a:cubicBezTo>
                  <a:lnTo>
                    <a:pt x="10340722" y="3301746"/>
                  </a:lnTo>
                  <a:cubicBezTo>
                    <a:pt x="10340722" y="3550412"/>
                    <a:pt x="10139173" y="3751961"/>
                    <a:pt x="9890506" y="3751961"/>
                  </a:cubicBezTo>
                  <a:lnTo>
                    <a:pt x="450215" y="3751961"/>
                  </a:lnTo>
                  <a:cubicBezTo>
                    <a:pt x="201549" y="3751961"/>
                    <a:pt x="0" y="3550412"/>
                    <a:pt x="0" y="330174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8137" y="2127647"/>
            <a:ext cx="96088" cy="2813980"/>
            <a:chOff x="0" y="0"/>
            <a:chExt cx="128118" cy="37519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43" cy="3751961"/>
            </a:xfrm>
            <a:custGeom>
              <a:avLst/>
              <a:gdLst/>
              <a:ahLst/>
              <a:cxnLst/>
              <a:rect l="l" t="t" r="r" b="b"/>
              <a:pathLst>
                <a:path w="128143" h="3751961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3736594"/>
                  </a:lnTo>
                  <a:cubicBezTo>
                    <a:pt x="128143" y="3745103"/>
                    <a:pt x="121285" y="3751961"/>
                    <a:pt x="112776" y="3751961"/>
                  </a:cubicBezTo>
                  <a:lnTo>
                    <a:pt x="15367" y="3751961"/>
                  </a:lnTo>
                  <a:cubicBezTo>
                    <a:pt x="6858" y="3751961"/>
                    <a:pt x="0" y="3745103"/>
                    <a:pt x="0" y="37365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45847" y="2392994"/>
            <a:ext cx="264247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VẤN ĐỀ ĐẶT 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5847" y="2979039"/>
            <a:ext cx="7115089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Tình trạng phòng phụ thuộc vào ngày nhận, ngày trả, số khách và các lịch đang giữ phòng. Dữ liệu cần được xử lý nhất quán.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65539" y="2127647"/>
            <a:ext cx="7755598" cy="2813980"/>
            <a:chOff x="0" y="0"/>
            <a:chExt cx="10340797" cy="37519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40722" cy="3751961"/>
            </a:xfrm>
            <a:custGeom>
              <a:avLst/>
              <a:gdLst/>
              <a:ahLst/>
              <a:cxnLst/>
              <a:rect l="l" t="t" r="r" b="b"/>
              <a:pathLst>
                <a:path w="10340722" h="3751961">
                  <a:moveTo>
                    <a:pt x="0" y="450215"/>
                  </a:moveTo>
                  <a:cubicBezTo>
                    <a:pt x="0" y="201549"/>
                    <a:pt x="201549" y="0"/>
                    <a:pt x="450215" y="0"/>
                  </a:cubicBezTo>
                  <a:lnTo>
                    <a:pt x="9890506" y="0"/>
                  </a:lnTo>
                  <a:cubicBezTo>
                    <a:pt x="10139173" y="0"/>
                    <a:pt x="10340722" y="201549"/>
                    <a:pt x="10340722" y="450215"/>
                  </a:cubicBezTo>
                  <a:lnTo>
                    <a:pt x="10340722" y="3301746"/>
                  </a:lnTo>
                  <a:cubicBezTo>
                    <a:pt x="10340722" y="3550412"/>
                    <a:pt x="10139173" y="3751961"/>
                    <a:pt x="9890506" y="3751961"/>
                  </a:cubicBezTo>
                  <a:lnTo>
                    <a:pt x="450215" y="3751961"/>
                  </a:lnTo>
                  <a:cubicBezTo>
                    <a:pt x="201549" y="3751961"/>
                    <a:pt x="0" y="3550412"/>
                    <a:pt x="0" y="330174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65539" y="2127647"/>
            <a:ext cx="96088" cy="2813980"/>
            <a:chOff x="0" y="0"/>
            <a:chExt cx="128118" cy="37519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43" cy="3751961"/>
            </a:xfrm>
            <a:custGeom>
              <a:avLst/>
              <a:gdLst/>
              <a:ahLst/>
              <a:cxnLst/>
              <a:rect l="l" t="t" r="r" b="b"/>
              <a:pathLst>
                <a:path w="128143" h="3751961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3736594"/>
                  </a:lnTo>
                  <a:cubicBezTo>
                    <a:pt x="128143" y="3745103"/>
                    <a:pt x="121285" y="3751961"/>
                    <a:pt x="112776" y="3751961"/>
                  </a:cubicBezTo>
                  <a:lnTo>
                    <a:pt x="15367" y="3751961"/>
                  </a:lnTo>
                  <a:cubicBezTo>
                    <a:pt x="6858" y="3751961"/>
                    <a:pt x="0" y="3745103"/>
                    <a:pt x="0" y="3736594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613249" y="2392994"/>
            <a:ext cx="1796844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MỤC TIÊU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13249" y="2979039"/>
            <a:ext cx="711508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Số hóa quy trình từ tra cứu phòng đến tạo yêu cầu, theo dõi lịch đặt và xử lý ở khu vực quản trị.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1122" y="5605043"/>
            <a:ext cx="29615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Mục tiêu kỹ thuật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04039" y="6369196"/>
            <a:ext cx="164725" cy="164725"/>
            <a:chOff x="0" y="0"/>
            <a:chExt cx="219634" cy="21963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34102" y="6275346"/>
            <a:ext cx="148706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Tổ chức ứng dụng theo mô hình MVC và cơ sở dữ liệu quan hệ.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04039" y="6931171"/>
            <a:ext cx="164725" cy="164725"/>
            <a:chOff x="0" y="0"/>
            <a:chExt cx="219634" cy="21963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34102" y="6837321"/>
            <a:ext cx="148706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Kiểm tra phòng trống và tính tổng tiền tại máy chủ.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04039" y="7493146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34102" y="7399296"/>
            <a:ext cx="1487068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Phân quyền, bảo vệ tài khoản và giữ dữ liệu lịch sử.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ĐỐI TƯỢNG VÀ PHẠM VI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66774" y="2470814"/>
            <a:ext cx="5147520" cy="3225784"/>
            <a:chOff x="0" y="0"/>
            <a:chExt cx="6863359" cy="43010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6774" y="2470814"/>
            <a:ext cx="96088" cy="3225784"/>
            <a:chOff x="0" y="0"/>
            <a:chExt cx="128118" cy="43010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14475" y="2736161"/>
            <a:ext cx="2697003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Khách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truy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cập</a:t>
            </a:r>
            <a:endParaRPr lang="en-US" sz="3000" b="1" dirty="0">
              <a:solidFill>
                <a:srgbClr val="102338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14475" y="3322206"/>
            <a:ext cx="450701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Xem trang chủ, danh sách phòng, chi tiết và đánh giá.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822186" y="2470814"/>
            <a:ext cx="5147520" cy="3225784"/>
            <a:chOff x="0" y="0"/>
            <a:chExt cx="6863359" cy="43010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22186" y="2470814"/>
            <a:ext cx="96088" cy="3225784"/>
            <a:chOff x="0" y="0"/>
            <a:chExt cx="128118" cy="43010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69887" y="2736161"/>
            <a:ext cx="2126513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Khách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hàng</a:t>
            </a:r>
            <a:endParaRPr lang="en-US" sz="3000" b="1" dirty="0">
              <a:solidFill>
                <a:srgbClr val="102338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69887" y="3322206"/>
            <a:ext cx="450701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Đăng nhập, đặt/hủy phòng theo điều kiện, quản lý hồ sơ và đánh giá.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477588" y="2470814"/>
            <a:ext cx="5147520" cy="3225784"/>
            <a:chOff x="0" y="0"/>
            <a:chExt cx="6863359" cy="43010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63334" cy="4300982"/>
            </a:xfrm>
            <a:custGeom>
              <a:avLst/>
              <a:gdLst/>
              <a:ahLst/>
              <a:cxnLst/>
              <a:rect l="l" t="t" r="r" b="b"/>
              <a:pathLst>
                <a:path w="6863334" h="4300982">
                  <a:moveTo>
                    <a:pt x="0" y="516128"/>
                  </a:moveTo>
                  <a:cubicBezTo>
                    <a:pt x="0" y="231140"/>
                    <a:pt x="231140" y="0"/>
                    <a:pt x="516128" y="0"/>
                  </a:cubicBezTo>
                  <a:lnTo>
                    <a:pt x="6347206" y="0"/>
                  </a:lnTo>
                  <a:cubicBezTo>
                    <a:pt x="6632194" y="0"/>
                    <a:pt x="6863334" y="231140"/>
                    <a:pt x="6863334" y="516128"/>
                  </a:cubicBezTo>
                  <a:lnTo>
                    <a:pt x="6863334" y="3784854"/>
                  </a:lnTo>
                  <a:cubicBezTo>
                    <a:pt x="6863334" y="4069842"/>
                    <a:pt x="6632194" y="4300982"/>
                    <a:pt x="6347206" y="4300982"/>
                  </a:cubicBezTo>
                  <a:lnTo>
                    <a:pt x="516128" y="4300982"/>
                  </a:lnTo>
                  <a:cubicBezTo>
                    <a:pt x="231140" y="4300982"/>
                    <a:pt x="0" y="4069969"/>
                    <a:pt x="0" y="378485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77588" y="2470814"/>
            <a:ext cx="96088" cy="3225784"/>
            <a:chOff x="0" y="0"/>
            <a:chExt cx="128118" cy="430104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143" cy="4300982"/>
            </a:xfrm>
            <a:custGeom>
              <a:avLst/>
              <a:gdLst/>
              <a:ahLst/>
              <a:cxnLst/>
              <a:rect l="l" t="t" r="r" b="b"/>
              <a:pathLst>
                <a:path w="128143" h="4300982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4285615"/>
                  </a:lnTo>
                  <a:cubicBezTo>
                    <a:pt x="128143" y="4294124"/>
                    <a:pt x="121285" y="4300982"/>
                    <a:pt x="112776" y="4300982"/>
                  </a:cubicBezTo>
                  <a:lnTo>
                    <a:pt x="15367" y="4300982"/>
                  </a:lnTo>
                  <a:cubicBezTo>
                    <a:pt x="6858" y="4300982"/>
                    <a:pt x="0" y="4294124"/>
                    <a:pt x="0" y="4285615"/>
                  </a:cubicBezTo>
                  <a:close/>
                </a:path>
              </a:pathLst>
            </a:custGeom>
            <a:solidFill>
              <a:srgbClr val="C260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25298" y="2736161"/>
            <a:ext cx="218908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Quản trị viên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25298" y="3322206"/>
            <a:ext cx="450701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Vận hành danh mục, phòng, tài khoản, lịch đặt và thống kê.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49759" y="6565916"/>
            <a:ext cx="240506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Trong phạm vi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04039" y="7261441"/>
            <a:ext cx="164725" cy="164725"/>
            <a:chOff x="0" y="0"/>
            <a:chExt cx="219634" cy="21963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34102" y="7167591"/>
            <a:ext cx="1514522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Một khách sạn; mỗi lượt đặt gắn với một phòng cụ thể.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04039" y="7920323"/>
            <a:ext cx="164725" cy="164725"/>
            <a:chOff x="0" y="0"/>
            <a:chExt cx="219634" cy="219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34102" y="7826473"/>
            <a:ext cx="1514522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Ghi nhận lựa chọn thanh toán tại khách sạn hoặc chuyển khoản; chưa xác nhận thu tiền.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04039" y="8579206"/>
            <a:ext cx="164725" cy="164725"/>
            <a:chOff x="0" y="0"/>
            <a:chExt cx="219634" cy="219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4102" y="8485356"/>
            <a:ext cx="1514522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Chưa tích hợp cổng thanh toán trực tuyến, xác nhận ngân hàng hay nền tảng đặt phòng bên ngoài.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75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NỀN TẢNG CÔNG NGHỆ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98137" y="2745343"/>
            <a:ext cx="3706216" cy="3500314"/>
            <a:chOff x="0" y="0"/>
            <a:chExt cx="4941621" cy="46670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41697" cy="4667123"/>
            </a:xfrm>
            <a:custGeom>
              <a:avLst/>
              <a:gdLst/>
              <a:ahLst/>
              <a:cxnLst/>
              <a:rect l="l" t="t" r="r" b="b"/>
              <a:pathLst>
                <a:path w="4941697" h="4667123">
                  <a:moveTo>
                    <a:pt x="0" y="560070"/>
                  </a:moveTo>
                  <a:cubicBezTo>
                    <a:pt x="0" y="250698"/>
                    <a:pt x="250698" y="0"/>
                    <a:pt x="560070" y="0"/>
                  </a:cubicBezTo>
                  <a:lnTo>
                    <a:pt x="4381627" y="0"/>
                  </a:lnTo>
                  <a:cubicBezTo>
                    <a:pt x="4690872" y="0"/>
                    <a:pt x="4941697" y="250698"/>
                    <a:pt x="4941697" y="560070"/>
                  </a:cubicBezTo>
                  <a:lnTo>
                    <a:pt x="4941697" y="4107053"/>
                  </a:lnTo>
                  <a:cubicBezTo>
                    <a:pt x="4941697" y="4416298"/>
                    <a:pt x="4690999" y="4667123"/>
                    <a:pt x="4381627" y="4667123"/>
                  </a:cubicBezTo>
                  <a:lnTo>
                    <a:pt x="560070" y="4667123"/>
                  </a:lnTo>
                  <a:cubicBezTo>
                    <a:pt x="250825" y="4667123"/>
                    <a:pt x="0" y="4416425"/>
                    <a:pt x="0" y="410705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98137" y="2745343"/>
            <a:ext cx="3706216" cy="205902"/>
            <a:chOff x="0" y="0"/>
            <a:chExt cx="4941621" cy="2745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41570" cy="274448"/>
            </a:xfrm>
            <a:custGeom>
              <a:avLst/>
              <a:gdLst/>
              <a:ahLst/>
              <a:cxnLst/>
              <a:rect l="l" t="t" r="r" b="b"/>
              <a:pathLst>
                <a:path w="4941570" h="274448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4908677" y="0"/>
                  </a:lnTo>
                  <a:cubicBezTo>
                    <a:pt x="4926838" y="0"/>
                    <a:pt x="4941570" y="14732"/>
                    <a:pt x="4941570" y="32893"/>
                  </a:cubicBezTo>
                  <a:lnTo>
                    <a:pt x="4941570" y="241554"/>
                  </a:lnTo>
                  <a:cubicBezTo>
                    <a:pt x="4941570" y="259715"/>
                    <a:pt x="4926838" y="274447"/>
                    <a:pt x="4908677" y="274447"/>
                  </a:cubicBezTo>
                  <a:lnTo>
                    <a:pt x="32893" y="274447"/>
                  </a:lnTo>
                  <a:cubicBezTo>
                    <a:pt x="14732" y="274574"/>
                    <a:pt x="0" y="259842"/>
                    <a:pt x="0" y="24155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90936" y="3312681"/>
            <a:ext cx="31343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GIAO DIỆN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0936" y="4241892"/>
            <a:ext cx="3134344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Razor View  HTML/CSS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Bootstrap 5  JavaScript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8710" y="4026475"/>
            <a:ext cx="388991" cy="59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E0B15B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353421" y="2745343"/>
            <a:ext cx="3706216" cy="3500314"/>
            <a:chOff x="0" y="0"/>
            <a:chExt cx="4941621" cy="46670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41697" cy="4667123"/>
            </a:xfrm>
            <a:custGeom>
              <a:avLst/>
              <a:gdLst/>
              <a:ahLst/>
              <a:cxnLst/>
              <a:rect l="l" t="t" r="r" b="b"/>
              <a:pathLst>
                <a:path w="4941697" h="4667123">
                  <a:moveTo>
                    <a:pt x="0" y="560070"/>
                  </a:moveTo>
                  <a:cubicBezTo>
                    <a:pt x="0" y="250698"/>
                    <a:pt x="250698" y="0"/>
                    <a:pt x="560070" y="0"/>
                  </a:cubicBezTo>
                  <a:lnTo>
                    <a:pt x="4381627" y="0"/>
                  </a:lnTo>
                  <a:cubicBezTo>
                    <a:pt x="4690872" y="0"/>
                    <a:pt x="4941697" y="250698"/>
                    <a:pt x="4941697" y="560070"/>
                  </a:cubicBezTo>
                  <a:lnTo>
                    <a:pt x="4941697" y="4107053"/>
                  </a:lnTo>
                  <a:cubicBezTo>
                    <a:pt x="4941697" y="4416298"/>
                    <a:pt x="4690999" y="4667123"/>
                    <a:pt x="4381627" y="4667123"/>
                  </a:cubicBezTo>
                  <a:lnTo>
                    <a:pt x="560070" y="4667123"/>
                  </a:lnTo>
                  <a:cubicBezTo>
                    <a:pt x="250825" y="4667123"/>
                    <a:pt x="0" y="4416425"/>
                    <a:pt x="0" y="410705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53421" y="2745343"/>
            <a:ext cx="3706216" cy="205902"/>
            <a:chOff x="0" y="0"/>
            <a:chExt cx="4941621" cy="2745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41570" cy="274448"/>
            </a:xfrm>
            <a:custGeom>
              <a:avLst/>
              <a:gdLst/>
              <a:ahLst/>
              <a:cxnLst/>
              <a:rect l="l" t="t" r="r" b="b"/>
              <a:pathLst>
                <a:path w="4941570" h="274448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4908677" y="0"/>
                  </a:lnTo>
                  <a:cubicBezTo>
                    <a:pt x="4926838" y="0"/>
                    <a:pt x="4941570" y="14732"/>
                    <a:pt x="4941570" y="32893"/>
                  </a:cubicBezTo>
                  <a:lnTo>
                    <a:pt x="4941570" y="241554"/>
                  </a:lnTo>
                  <a:cubicBezTo>
                    <a:pt x="4941570" y="259715"/>
                    <a:pt x="4926838" y="274447"/>
                    <a:pt x="4908677" y="274447"/>
                  </a:cubicBezTo>
                  <a:lnTo>
                    <a:pt x="32893" y="274447"/>
                  </a:lnTo>
                  <a:cubicBezTo>
                    <a:pt x="14732" y="274574"/>
                    <a:pt x="0" y="259842"/>
                    <a:pt x="0" y="241554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646220" y="3312681"/>
            <a:ext cx="31343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ỨNG DỤNG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46220" y="4241892"/>
            <a:ext cx="3134344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C# 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ASP.NET Core 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MVC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.NET 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73994" y="4026475"/>
            <a:ext cx="388991" cy="59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E0B15B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608706" y="2745343"/>
            <a:ext cx="3706216" cy="3500314"/>
            <a:chOff x="0" y="0"/>
            <a:chExt cx="4941621" cy="466708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41697" cy="4667123"/>
            </a:xfrm>
            <a:custGeom>
              <a:avLst/>
              <a:gdLst/>
              <a:ahLst/>
              <a:cxnLst/>
              <a:rect l="l" t="t" r="r" b="b"/>
              <a:pathLst>
                <a:path w="4941697" h="4667123">
                  <a:moveTo>
                    <a:pt x="0" y="560070"/>
                  </a:moveTo>
                  <a:cubicBezTo>
                    <a:pt x="0" y="250698"/>
                    <a:pt x="250698" y="0"/>
                    <a:pt x="560070" y="0"/>
                  </a:cubicBezTo>
                  <a:lnTo>
                    <a:pt x="4381627" y="0"/>
                  </a:lnTo>
                  <a:cubicBezTo>
                    <a:pt x="4690872" y="0"/>
                    <a:pt x="4941697" y="250698"/>
                    <a:pt x="4941697" y="560070"/>
                  </a:cubicBezTo>
                  <a:lnTo>
                    <a:pt x="4941697" y="4107053"/>
                  </a:lnTo>
                  <a:cubicBezTo>
                    <a:pt x="4941697" y="4416298"/>
                    <a:pt x="4690999" y="4667123"/>
                    <a:pt x="4381627" y="4667123"/>
                  </a:cubicBezTo>
                  <a:lnTo>
                    <a:pt x="560070" y="4667123"/>
                  </a:lnTo>
                  <a:cubicBezTo>
                    <a:pt x="250825" y="4667123"/>
                    <a:pt x="0" y="4416425"/>
                    <a:pt x="0" y="410705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08706" y="2745343"/>
            <a:ext cx="3706216" cy="205902"/>
            <a:chOff x="0" y="0"/>
            <a:chExt cx="4941621" cy="2745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41570" cy="274448"/>
            </a:xfrm>
            <a:custGeom>
              <a:avLst/>
              <a:gdLst/>
              <a:ahLst/>
              <a:cxnLst/>
              <a:rect l="l" t="t" r="r" b="b"/>
              <a:pathLst>
                <a:path w="4941570" h="274448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4908677" y="0"/>
                  </a:lnTo>
                  <a:cubicBezTo>
                    <a:pt x="4926838" y="0"/>
                    <a:pt x="4941570" y="14732"/>
                    <a:pt x="4941570" y="32893"/>
                  </a:cubicBezTo>
                  <a:lnTo>
                    <a:pt x="4941570" y="241554"/>
                  </a:lnTo>
                  <a:cubicBezTo>
                    <a:pt x="4941570" y="259715"/>
                    <a:pt x="4926838" y="274447"/>
                    <a:pt x="4908677" y="274447"/>
                  </a:cubicBezTo>
                  <a:lnTo>
                    <a:pt x="32893" y="274447"/>
                  </a:lnTo>
                  <a:cubicBezTo>
                    <a:pt x="14732" y="274574"/>
                    <a:pt x="0" y="259842"/>
                    <a:pt x="0" y="241554"/>
                  </a:cubicBezTo>
                  <a:close/>
                </a:path>
              </a:pathLst>
            </a:custGeom>
            <a:solidFill>
              <a:srgbClr val="C260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901504" y="3312681"/>
            <a:ext cx="3134344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TRUY CẬP DỮ LIỆU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01504" y="4241892"/>
            <a:ext cx="3134344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Entity Framework Core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LINQ  HotelDbContext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29278" y="4026475"/>
            <a:ext cx="388991" cy="59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1">
                <a:solidFill>
                  <a:srgbClr val="E0B15B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863990" y="2745343"/>
            <a:ext cx="3706216" cy="3500314"/>
            <a:chOff x="0" y="0"/>
            <a:chExt cx="4941621" cy="46670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41697" cy="4667123"/>
            </a:xfrm>
            <a:custGeom>
              <a:avLst/>
              <a:gdLst/>
              <a:ahLst/>
              <a:cxnLst/>
              <a:rect l="l" t="t" r="r" b="b"/>
              <a:pathLst>
                <a:path w="4941697" h="4667123">
                  <a:moveTo>
                    <a:pt x="0" y="560070"/>
                  </a:moveTo>
                  <a:cubicBezTo>
                    <a:pt x="0" y="250698"/>
                    <a:pt x="250698" y="0"/>
                    <a:pt x="560070" y="0"/>
                  </a:cubicBezTo>
                  <a:lnTo>
                    <a:pt x="4381627" y="0"/>
                  </a:lnTo>
                  <a:cubicBezTo>
                    <a:pt x="4690872" y="0"/>
                    <a:pt x="4941697" y="250698"/>
                    <a:pt x="4941697" y="560070"/>
                  </a:cubicBezTo>
                  <a:lnTo>
                    <a:pt x="4941697" y="4107053"/>
                  </a:lnTo>
                  <a:cubicBezTo>
                    <a:pt x="4941697" y="4416298"/>
                    <a:pt x="4690999" y="4667123"/>
                    <a:pt x="4381627" y="4667123"/>
                  </a:cubicBezTo>
                  <a:lnTo>
                    <a:pt x="560070" y="4667123"/>
                  </a:lnTo>
                  <a:cubicBezTo>
                    <a:pt x="250825" y="4667123"/>
                    <a:pt x="0" y="4416425"/>
                    <a:pt x="0" y="410705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63990" y="2745343"/>
            <a:ext cx="3706216" cy="205902"/>
            <a:chOff x="0" y="0"/>
            <a:chExt cx="4941621" cy="2745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41570" cy="274448"/>
            </a:xfrm>
            <a:custGeom>
              <a:avLst/>
              <a:gdLst/>
              <a:ahLst/>
              <a:cxnLst/>
              <a:rect l="l" t="t" r="r" b="b"/>
              <a:pathLst>
                <a:path w="4941570" h="274448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4908677" y="0"/>
                  </a:lnTo>
                  <a:cubicBezTo>
                    <a:pt x="4926838" y="0"/>
                    <a:pt x="4941570" y="14732"/>
                    <a:pt x="4941570" y="32893"/>
                  </a:cubicBezTo>
                  <a:lnTo>
                    <a:pt x="4941570" y="241554"/>
                  </a:lnTo>
                  <a:cubicBezTo>
                    <a:pt x="4941570" y="259715"/>
                    <a:pt x="4926838" y="274447"/>
                    <a:pt x="4908677" y="274447"/>
                  </a:cubicBezTo>
                  <a:lnTo>
                    <a:pt x="32893" y="274447"/>
                  </a:lnTo>
                  <a:cubicBezTo>
                    <a:pt x="14732" y="274574"/>
                    <a:pt x="0" y="259842"/>
                    <a:pt x="0" y="241554"/>
                  </a:cubicBezTo>
                  <a:close/>
                </a:path>
              </a:pathLst>
            </a:custGeom>
            <a:solidFill>
              <a:srgbClr val="19344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156788" y="3312681"/>
            <a:ext cx="31343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LƯU TRỮ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156788" y="4241892"/>
            <a:ext cx="31343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SQL Server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5 bảng nghiệp vụ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49759" y="7399039"/>
            <a:ext cx="1569429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Môi trường: Windows • .NET 10 SDK • Visual Studio / .NET CLI • SQL Server hoặc LocalDB • trình duyệt web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873362" y="1444412"/>
            <a:ext cx="14541275" cy="8397587"/>
          </a:xfrm>
          <a:custGeom>
            <a:avLst/>
            <a:gdLst/>
            <a:ahLst/>
            <a:cxnLst/>
            <a:rect l="l" t="t" r="r" b="b"/>
            <a:pathLst>
              <a:path w="14541275" h="8397587">
                <a:moveTo>
                  <a:pt x="0" y="0"/>
                </a:moveTo>
                <a:lnTo>
                  <a:pt x="14541276" y="0"/>
                </a:lnTo>
                <a:lnTo>
                  <a:pt x="14541276" y="8397586"/>
                </a:lnTo>
                <a:lnTo>
                  <a:pt x="0" y="839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KIẾN TRÚC ỨNG DỤNG MVC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LUỒNG ĐẶT PHÒNG TỔNG QUÁT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4157005"/>
            <a:ext cx="2882608" cy="2333539"/>
            <a:chOff x="0" y="0"/>
            <a:chExt cx="3843477" cy="31113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528" cy="3111373"/>
            </a:xfrm>
            <a:custGeom>
              <a:avLst/>
              <a:gdLst/>
              <a:ahLst/>
              <a:cxnLst/>
              <a:rect l="l" t="t" r="r" b="b"/>
              <a:pathLst>
                <a:path w="3843528" h="3111373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3470148" y="0"/>
                  </a:lnTo>
                  <a:cubicBezTo>
                    <a:pt x="3676396" y="0"/>
                    <a:pt x="3843528" y="167132"/>
                    <a:pt x="3843528" y="373380"/>
                  </a:cubicBezTo>
                  <a:lnTo>
                    <a:pt x="3843528" y="2737993"/>
                  </a:lnTo>
                  <a:cubicBezTo>
                    <a:pt x="3843528" y="2944241"/>
                    <a:pt x="3676396" y="3111373"/>
                    <a:pt x="3470148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62922" y="3539309"/>
            <a:ext cx="988324" cy="988324"/>
            <a:chOff x="0" y="0"/>
            <a:chExt cx="1317765" cy="13177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158115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1159637" y="0"/>
                  </a:lnTo>
                  <a:cubicBezTo>
                    <a:pt x="1247013" y="0"/>
                    <a:pt x="1317752" y="70739"/>
                    <a:pt x="1317752" y="158115"/>
                  </a:cubicBezTo>
                  <a:lnTo>
                    <a:pt x="1317752" y="1159637"/>
                  </a:lnTo>
                  <a:cubicBezTo>
                    <a:pt x="1317752" y="1247013"/>
                    <a:pt x="1247013" y="1317752"/>
                    <a:pt x="1159637" y="1317752"/>
                  </a:cubicBezTo>
                  <a:lnTo>
                    <a:pt x="158115" y="1317752"/>
                  </a:lnTo>
                  <a:cubicBezTo>
                    <a:pt x="70739" y="1317752"/>
                    <a:pt x="0" y="1247013"/>
                    <a:pt x="0" y="1159637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287360" y="3842971"/>
            <a:ext cx="455840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945" y="5104486"/>
            <a:ext cx="246172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Nhập ngày lưu trú và số khách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85289" y="5063309"/>
            <a:ext cx="388991" cy="37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488637" y="4157005"/>
            <a:ext cx="2882608" cy="2333539"/>
            <a:chOff x="0" y="0"/>
            <a:chExt cx="3843477" cy="31113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43528" cy="3111373"/>
            </a:xfrm>
            <a:custGeom>
              <a:avLst/>
              <a:gdLst/>
              <a:ahLst/>
              <a:cxnLst/>
              <a:rect l="l" t="t" r="r" b="b"/>
              <a:pathLst>
                <a:path w="3843528" h="3111373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3470148" y="0"/>
                  </a:lnTo>
                  <a:cubicBezTo>
                    <a:pt x="3676396" y="0"/>
                    <a:pt x="3843528" y="167132"/>
                    <a:pt x="3843528" y="373380"/>
                  </a:cubicBezTo>
                  <a:lnTo>
                    <a:pt x="3843528" y="2737993"/>
                  </a:lnTo>
                  <a:cubicBezTo>
                    <a:pt x="3843528" y="2944241"/>
                    <a:pt x="3676396" y="3111373"/>
                    <a:pt x="3470148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422059" y="3539309"/>
            <a:ext cx="988324" cy="988324"/>
            <a:chOff x="0" y="0"/>
            <a:chExt cx="1317765" cy="13177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158115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1159637" y="0"/>
                  </a:lnTo>
                  <a:cubicBezTo>
                    <a:pt x="1247013" y="0"/>
                    <a:pt x="1317752" y="70739"/>
                    <a:pt x="1317752" y="158115"/>
                  </a:cubicBezTo>
                  <a:lnTo>
                    <a:pt x="1317752" y="1159637"/>
                  </a:lnTo>
                  <a:cubicBezTo>
                    <a:pt x="1317752" y="1247013"/>
                    <a:pt x="1247013" y="1317752"/>
                    <a:pt x="1159637" y="1317752"/>
                  </a:cubicBezTo>
                  <a:lnTo>
                    <a:pt x="158115" y="1317752"/>
                  </a:lnTo>
                  <a:cubicBezTo>
                    <a:pt x="70739" y="1317752"/>
                    <a:pt x="0" y="1247013"/>
                    <a:pt x="0" y="1159637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746497" y="3842971"/>
            <a:ext cx="349503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99083" y="5104486"/>
            <a:ext cx="246172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Tìm loại phòng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còn đáp ứng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44426" y="5063309"/>
            <a:ext cx="388991" cy="37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947774" y="4157005"/>
            <a:ext cx="2882608" cy="2333539"/>
            <a:chOff x="0" y="0"/>
            <a:chExt cx="3843477" cy="31113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43528" cy="3111373"/>
            </a:xfrm>
            <a:custGeom>
              <a:avLst/>
              <a:gdLst/>
              <a:ahLst/>
              <a:cxnLst/>
              <a:rect l="l" t="t" r="r" b="b"/>
              <a:pathLst>
                <a:path w="3843528" h="3111373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3470148" y="0"/>
                  </a:lnTo>
                  <a:cubicBezTo>
                    <a:pt x="3676396" y="0"/>
                    <a:pt x="3843528" y="167132"/>
                    <a:pt x="3843528" y="373380"/>
                  </a:cubicBezTo>
                  <a:lnTo>
                    <a:pt x="3843528" y="2737993"/>
                  </a:lnTo>
                  <a:cubicBezTo>
                    <a:pt x="3843528" y="2944241"/>
                    <a:pt x="3676396" y="3111373"/>
                    <a:pt x="3470148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81186" y="3539309"/>
            <a:ext cx="988324" cy="988324"/>
            <a:chOff x="0" y="0"/>
            <a:chExt cx="1317765" cy="13177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158115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1159637" y="0"/>
                  </a:lnTo>
                  <a:cubicBezTo>
                    <a:pt x="1247013" y="0"/>
                    <a:pt x="1317752" y="70739"/>
                    <a:pt x="1317752" y="158115"/>
                  </a:cubicBezTo>
                  <a:lnTo>
                    <a:pt x="1317752" y="1159637"/>
                  </a:lnTo>
                  <a:cubicBezTo>
                    <a:pt x="1317752" y="1247013"/>
                    <a:pt x="1247013" y="1317752"/>
                    <a:pt x="1159637" y="1317752"/>
                  </a:cubicBezTo>
                  <a:lnTo>
                    <a:pt x="158115" y="1317752"/>
                  </a:lnTo>
                  <a:cubicBezTo>
                    <a:pt x="70739" y="1317752"/>
                    <a:pt x="0" y="1247013"/>
                    <a:pt x="0" y="1159637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205624" y="3842971"/>
            <a:ext cx="395576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58210" y="5104486"/>
            <a:ext cx="246172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Xác nhận yêu cầu và phương thức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03563" y="5063309"/>
            <a:ext cx="388991" cy="37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406911" y="4157005"/>
            <a:ext cx="2882608" cy="2333539"/>
            <a:chOff x="0" y="0"/>
            <a:chExt cx="3843477" cy="31113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43528" cy="3111373"/>
            </a:xfrm>
            <a:custGeom>
              <a:avLst/>
              <a:gdLst/>
              <a:ahLst/>
              <a:cxnLst/>
              <a:rect l="l" t="t" r="r" b="b"/>
              <a:pathLst>
                <a:path w="3843528" h="3111373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3470148" y="0"/>
                  </a:lnTo>
                  <a:cubicBezTo>
                    <a:pt x="3676396" y="0"/>
                    <a:pt x="3843528" y="167132"/>
                    <a:pt x="3843528" y="373380"/>
                  </a:cubicBezTo>
                  <a:lnTo>
                    <a:pt x="3843528" y="2737993"/>
                  </a:lnTo>
                  <a:cubicBezTo>
                    <a:pt x="3843528" y="2944241"/>
                    <a:pt x="3676396" y="3111373"/>
                    <a:pt x="3470148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340323" y="3539309"/>
            <a:ext cx="988324" cy="988324"/>
            <a:chOff x="0" y="0"/>
            <a:chExt cx="1317765" cy="131776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158115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1159637" y="0"/>
                  </a:lnTo>
                  <a:cubicBezTo>
                    <a:pt x="1247013" y="0"/>
                    <a:pt x="1317752" y="70739"/>
                    <a:pt x="1317752" y="158115"/>
                  </a:cubicBezTo>
                  <a:lnTo>
                    <a:pt x="1317752" y="1159637"/>
                  </a:lnTo>
                  <a:cubicBezTo>
                    <a:pt x="1317752" y="1247013"/>
                    <a:pt x="1247013" y="1317752"/>
                    <a:pt x="1159637" y="1317752"/>
                  </a:cubicBezTo>
                  <a:lnTo>
                    <a:pt x="158115" y="1317752"/>
                  </a:lnTo>
                  <a:cubicBezTo>
                    <a:pt x="70739" y="1317752"/>
                    <a:pt x="0" y="1247013"/>
                    <a:pt x="0" y="1159637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2687757" y="3842971"/>
            <a:ext cx="342443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17347" y="5104486"/>
            <a:ext cx="246172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Kiểm tra lại tại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máy chủ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362690" y="5063309"/>
            <a:ext cx="388991" cy="37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1">
                <a:solidFill>
                  <a:srgbClr val="239B91"/>
                </a:solidFill>
                <a:latin typeface="Aptos Bold"/>
                <a:ea typeface="Aptos Bold"/>
                <a:cs typeface="Aptos Bold"/>
                <a:sym typeface="Aptos Bold"/>
              </a:rPr>
              <a:t>→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866039" y="4157005"/>
            <a:ext cx="2882608" cy="2333539"/>
            <a:chOff x="0" y="0"/>
            <a:chExt cx="3843477" cy="311138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43528" cy="3111373"/>
            </a:xfrm>
            <a:custGeom>
              <a:avLst/>
              <a:gdLst/>
              <a:ahLst/>
              <a:cxnLst/>
              <a:rect l="l" t="t" r="r" b="b"/>
              <a:pathLst>
                <a:path w="3843528" h="3111373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3470148" y="0"/>
                  </a:lnTo>
                  <a:cubicBezTo>
                    <a:pt x="3676396" y="0"/>
                    <a:pt x="3843528" y="167132"/>
                    <a:pt x="3843528" y="373380"/>
                  </a:cubicBezTo>
                  <a:lnTo>
                    <a:pt x="3843528" y="2737993"/>
                  </a:lnTo>
                  <a:cubicBezTo>
                    <a:pt x="3843528" y="2944241"/>
                    <a:pt x="3676396" y="3111373"/>
                    <a:pt x="3470148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5799460" y="3539309"/>
            <a:ext cx="988324" cy="988324"/>
            <a:chOff x="0" y="0"/>
            <a:chExt cx="1317765" cy="131776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17752" cy="1317752"/>
            </a:xfrm>
            <a:custGeom>
              <a:avLst/>
              <a:gdLst/>
              <a:ahLst/>
              <a:cxnLst/>
              <a:rect l="l" t="t" r="r" b="b"/>
              <a:pathLst>
                <a:path w="1317752" h="1317752">
                  <a:moveTo>
                    <a:pt x="0" y="158115"/>
                  </a:moveTo>
                  <a:cubicBezTo>
                    <a:pt x="0" y="70739"/>
                    <a:pt x="70739" y="0"/>
                    <a:pt x="158115" y="0"/>
                  </a:cubicBezTo>
                  <a:lnTo>
                    <a:pt x="1159637" y="0"/>
                  </a:lnTo>
                  <a:cubicBezTo>
                    <a:pt x="1247013" y="0"/>
                    <a:pt x="1317752" y="70739"/>
                    <a:pt x="1317752" y="158115"/>
                  </a:cubicBezTo>
                  <a:lnTo>
                    <a:pt x="1317752" y="1159637"/>
                  </a:lnTo>
                  <a:cubicBezTo>
                    <a:pt x="1317752" y="1247013"/>
                    <a:pt x="1247013" y="1317752"/>
                    <a:pt x="1159637" y="1317752"/>
                  </a:cubicBezTo>
                  <a:lnTo>
                    <a:pt x="158115" y="1317752"/>
                  </a:lnTo>
                  <a:cubicBezTo>
                    <a:pt x="70739" y="1317752"/>
                    <a:pt x="0" y="1247013"/>
                    <a:pt x="0" y="1159637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6123899" y="3842971"/>
            <a:ext cx="411501" cy="38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2"/>
              </a:lnSpc>
            </a:pPr>
            <a:r>
              <a:rPr lang="en-US" sz="2501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076484" y="5104486"/>
            <a:ext cx="2461727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Lưu đặt phòng</a:t>
            </a:r>
          </a:p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chờ xác nhận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QUY TẮC KIỂM TRA PHÒNG TRỐNG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21" y="1537392"/>
            <a:ext cx="1125588" cy="75495"/>
            <a:chOff x="0" y="0"/>
            <a:chExt cx="1500784" cy="1006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0759" cy="100711"/>
            </a:xfrm>
            <a:custGeom>
              <a:avLst/>
              <a:gdLst/>
              <a:ahLst/>
              <a:cxnLst/>
              <a:rect l="l" t="t" r="r" b="b"/>
              <a:pathLst>
                <a:path w="1500759" h="100711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2881" y="2127647"/>
            <a:ext cx="7824235" cy="2882608"/>
            <a:chOff x="0" y="0"/>
            <a:chExt cx="10432313" cy="384347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32415" cy="3843528"/>
            </a:xfrm>
            <a:custGeom>
              <a:avLst/>
              <a:gdLst/>
              <a:ahLst/>
              <a:cxnLst/>
              <a:rect l="l" t="t" r="r" b="b"/>
              <a:pathLst>
                <a:path w="10432415" h="3843528">
                  <a:moveTo>
                    <a:pt x="0" y="461264"/>
                  </a:moveTo>
                  <a:cubicBezTo>
                    <a:pt x="0" y="206502"/>
                    <a:pt x="206502" y="0"/>
                    <a:pt x="461264" y="0"/>
                  </a:cubicBezTo>
                  <a:lnTo>
                    <a:pt x="9971151" y="0"/>
                  </a:lnTo>
                  <a:cubicBezTo>
                    <a:pt x="10225913" y="0"/>
                    <a:pt x="10432415" y="206502"/>
                    <a:pt x="10432415" y="461264"/>
                  </a:cubicBezTo>
                  <a:lnTo>
                    <a:pt x="10432415" y="3382264"/>
                  </a:lnTo>
                  <a:cubicBezTo>
                    <a:pt x="10432415" y="3637026"/>
                    <a:pt x="10225913" y="3843528"/>
                    <a:pt x="9971151" y="3843528"/>
                  </a:cubicBezTo>
                  <a:lnTo>
                    <a:pt x="461264" y="3843528"/>
                  </a:lnTo>
                  <a:cubicBezTo>
                    <a:pt x="206502" y="3843528"/>
                    <a:pt x="0" y="3637026"/>
                    <a:pt x="0" y="33822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66774" y="2127647"/>
            <a:ext cx="96088" cy="2882608"/>
            <a:chOff x="0" y="0"/>
            <a:chExt cx="128118" cy="38434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43" cy="3843528"/>
            </a:xfrm>
            <a:custGeom>
              <a:avLst/>
              <a:gdLst/>
              <a:ahLst/>
              <a:cxnLst/>
              <a:rect l="l" t="t" r="r" b="b"/>
              <a:pathLst>
                <a:path w="128143" h="3843528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3828161"/>
                  </a:lnTo>
                  <a:cubicBezTo>
                    <a:pt x="128143" y="3836670"/>
                    <a:pt x="121285" y="3843528"/>
                    <a:pt x="112776" y="3843528"/>
                  </a:cubicBezTo>
                  <a:lnTo>
                    <a:pt x="15367" y="3843528"/>
                  </a:lnTo>
                  <a:cubicBezTo>
                    <a:pt x="6858" y="3843528"/>
                    <a:pt x="0" y="3836670"/>
                    <a:pt x="0" y="382816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14474" y="2392994"/>
            <a:ext cx="3286125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ĐIỀU KIỆN PHÒNG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4475" y="2979039"/>
            <a:ext cx="7183726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Đang sẵn sàng, chưa xóa mềm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Đủ sức chứa số khách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Không có lịch chờ xác nhận / đã xác nhận trùng ngày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34176" y="2127647"/>
            <a:ext cx="7824235" cy="2882608"/>
            <a:chOff x="0" y="0"/>
            <a:chExt cx="10432313" cy="38434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32415" cy="3843528"/>
            </a:xfrm>
            <a:custGeom>
              <a:avLst/>
              <a:gdLst/>
              <a:ahLst/>
              <a:cxnLst/>
              <a:rect l="l" t="t" r="r" b="b"/>
              <a:pathLst>
                <a:path w="10432415" h="3843528">
                  <a:moveTo>
                    <a:pt x="0" y="461264"/>
                  </a:moveTo>
                  <a:cubicBezTo>
                    <a:pt x="0" y="206502"/>
                    <a:pt x="206502" y="0"/>
                    <a:pt x="461264" y="0"/>
                  </a:cubicBezTo>
                  <a:lnTo>
                    <a:pt x="9971151" y="0"/>
                  </a:lnTo>
                  <a:cubicBezTo>
                    <a:pt x="10225913" y="0"/>
                    <a:pt x="10432415" y="206502"/>
                    <a:pt x="10432415" y="461264"/>
                  </a:cubicBezTo>
                  <a:lnTo>
                    <a:pt x="10432415" y="3382264"/>
                  </a:lnTo>
                  <a:cubicBezTo>
                    <a:pt x="10432415" y="3637026"/>
                    <a:pt x="10225913" y="3843528"/>
                    <a:pt x="9971151" y="3843528"/>
                  </a:cubicBezTo>
                  <a:lnTo>
                    <a:pt x="461264" y="3843528"/>
                  </a:lnTo>
                  <a:cubicBezTo>
                    <a:pt x="206502" y="3843528"/>
                    <a:pt x="0" y="3637026"/>
                    <a:pt x="0" y="33822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34176" y="2127647"/>
            <a:ext cx="96088" cy="2882608"/>
            <a:chOff x="0" y="0"/>
            <a:chExt cx="128118" cy="384347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143" cy="3843528"/>
            </a:xfrm>
            <a:custGeom>
              <a:avLst/>
              <a:gdLst/>
              <a:ahLst/>
              <a:cxnLst/>
              <a:rect l="l" t="t" r="r" b="b"/>
              <a:pathLst>
                <a:path w="128143" h="3843528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3828161"/>
                  </a:lnTo>
                  <a:cubicBezTo>
                    <a:pt x="128143" y="3836670"/>
                    <a:pt x="121285" y="3843528"/>
                    <a:pt x="112776" y="3843528"/>
                  </a:cubicBezTo>
                  <a:lnTo>
                    <a:pt x="15367" y="3843528"/>
                  </a:lnTo>
                  <a:cubicBezTo>
                    <a:pt x="6858" y="3843528"/>
                    <a:pt x="0" y="3836670"/>
                    <a:pt x="0" y="3828161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681877" y="2392994"/>
            <a:ext cx="433578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CÔNG THỨC GIAO NHAU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81877" y="2979039"/>
            <a:ext cx="718372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Hai lượt đặt giao nhau khi: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Ngày nhận₁ &lt; ngày trả₂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và ngày trả₁ &gt; ngày nhận₂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9758" y="5742308"/>
            <a:ext cx="2612641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Ví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dụ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minh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họa</a:t>
            </a:r>
            <a:endParaRPr lang="en-US" sz="3000" b="1" dirty="0">
              <a:solidFill>
                <a:srgbClr val="102338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7024" y="6644069"/>
            <a:ext cx="1027576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 err="1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Lượt</a:t>
            </a:r>
            <a:r>
              <a:rPr lang="en-US" sz="2499" b="1" dirty="0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 A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882608" y="6588824"/>
            <a:ext cx="5902490" cy="576520"/>
            <a:chOff x="0" y="0"/>
            <a:chExt cx="7869987" cy="76869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869936" cy="768604"/>
            </a:xfrm>
            <a:custGeom>
              <a:avLst/>
              <a:gdLst/>
              <a:ahLst/>
              <a:cxnLst/>
              <a:rect l="l" t="t" r="r" b="b"/>
              <a:pathLst>
                <a:path w="7869936" h="768604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7777734" y="0"/>
                  </a:lnTo>
                  <a:cubicBezTo>
                    <a:pt x="7828661" y="0"/>
                    <a:pt x="7869936" y="41275"/>
                    <a:pt x="7869936" y="92202"/>
                  </a:cubicBezTo>
                  <a:lnTo>
                    <a:pt x="7869936" y="676402"/>
                  </a:lnTo>
                  <a:cubicBezTo>
                    <a:pt x="7869936" y="727329"/>
                    <a:pt x="7828661" y="768604"/>
                    <a:pt x="7777734" y="768604"/>
                  </a:cubicBezTo>
                  <a:lnTo>
                    <a:pt x="92202" y="768604"/>
                  </a:lnTo>
                  <a:cubicBezTo>
                    <a:pt x="41275" y="768731"/>
                    <a:pt x="0" y="727456"/>
                    <a:pt x="0" y="676402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197662" y="6698980"/>
            <a:ext cx="1050738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10 → 12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87024" y="7673578"/>
            <a:ext cx="1027576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 err="1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Lượt</a:t>
            </a:r>
            <a:r>
              <a:rPr lang="en-US" sz="2499" b="1" dirty="0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 B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785108" y="7618333"/>
            <a:ext cx="2882608" cy="576520"/>
            <a:chOff x="0" y="0"/>
            <a:chExt cx="3843477" cy="7686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43401" cy="768604"/>
            </a:xfrm>
            <a:custGeom>
              <a:avLst/>
              <a:gdLst/>
              <a:ahLst/>
              <a:cxnLst/>
              <a:rect l="l" t="t" r="r" b="b"/>
              <a:pathLst>
                <a:path w="3843401" h="768604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3751199" y="0"/>
                  </a:lnTo>
                  <a:cubicBezTo>
                    <a:pt x="3802126" y="0"/>
                    <a:pt x="3843401" y="41275"/>
                    <a:pt x="3843401" y="92202"/>
                  </a:cubicBezTo>
                  <a:lnTo>
                    <a:pt x="3843401" y="676402"/>
                  </a:lnTo>
                  <a:cubicBezTo>
                    <a:pt x="3843401" y="727329"/>
                    <a:pt x="3802126" y="768604"/>
                    <a:pt x="3751199" y="768604"/>
                  </a:cubicBezTo>
                  <a:lnTo>
                    <a:pt x="92202" y="768604"/>
                  </a:lnTo>
                  <a:cubicBezTo>
                    <a:pt x="41275" y="768731"/>
                    <a:pt x="0" y="727456"/>
                    <a:pt x="0" y="676402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658848" y="7728480"/>
            <a:ext cx="1085352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12 → 14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93867" y="7399039"/>
            <a:ext cx="41638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Có thể nối tiếp: ngày trả không thuộc khoảng lưu trú.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994606" y="1460100"/>
            <a:ext cx="8298788" cy="8273629"/>
          </a:xfrm>
          <a:custGeom>
            <a:avLst/>
            <a:gdLst/>
            <a:ahLst/>
            <a:cxnLst/>
            <a:rect l="l" t="t" r="r" b="b"/>
            <a:pathLst>
              <a:path w="8298788" h="8273629">
                <a:moveTo>
                  <a:pt x="0" y="0"/>
                </a:moveTo>
                <a:lnTo>
                  <a:pt x="8298788" y="0"/>
                </a:lnTo>
                <a:lnTo>
                  <a:pt x="8298788" y="8273629"/>
                </a:lnTo>
                <a:lnTo>
                  <a:pt x="0" y="8273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805" t="-20372" r="-58358" b="-106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THIẾT KẾ CƠ SỞ DỮ LIỆU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DỮ LIỆU VÀ RÀNG BUỘC NGHIỆP VỤ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35402" y="2127647"/>
            <a:ext cx="3157147" cy="851059"/>
            <a:chOff x="0" y="0"/>
            <a:chExt cx="4209529" cy="11347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09542" cy="1134745"/>
            </a:xfrm>
            <a:custGeom>
              <a:avLst/>
              <a:gdLst/>
              <a:ahLst/>
              <a:cxnLst/>
              <a:rect l="l" t="t" r="r" b="b"/>
              <a:pathLst>
                <a:path w="420954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4073398" y="0"/>
                  </a:lnTo>
                  <a:cubicBezTo>
                    <a:pt x="4148582" y="0"/>
                    <a:pt x="4209542" y="60960"/>
                    <a:pt x="4209542" y="136144"/>
                  </a:cubicBezTo>
                  <a:lnTo>
                    <a:pt x="4209542" y="998601"/>
                  </a:lnTo>
                  <a:cubicBezTo>
                    <a:pt x="4209542" y="1073785"/>
                    <a:pt x="4148582" y="1134745"/>
                    <a:pt x="407339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47770" y="2324576"/>
            <a:ext cx="1962229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NguoiDung</a:t>
            </a:r>
            <a:endParaRPr lang="en-US" sz="3000" b="1" dirty="0">
              <a:solidFill>
                <a:srgbClr val="FFFFF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735716" y="2127647"/>
            <a:ext cx="11667715" cy="851059"/>
            <a:chOff x="0" y="0"/>
            <a:chExt cx="15556954" cy="11347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556992" cy="1134745"/>
            </a:xfrm>
            <a:custGeom>
              <a:avLst/>
              <a:gdLst/>
              <a:ahLst/>
              <a:cxnLst/>
              <a:rect l="l" t="t" r="r" b="b"/>
              <a:pathLst>
                <a:path w="1555699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420848" y="0"/>
                  </a:lnTo>
                  <a:cubicBezTo>
                    <a:pt x="15496032" y="0"/>
                    <a:pt x="15556992" y="60960"/>
                    <a:pt x="15556992" y="136144"/>
                  </a:cubicBezTo>
                  <a:lnTo>
                    <a:pt x="15556992" y="998601"/>
                  </a:lnTo>
                  <a:cubicBezTo>
                    <a:pt x="15556992" y="1073785"/>
                    <a:pt x="15496032" y="1134745"/>
                    <a:pt x="1542084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124612" y="2381974"/>
            <a:ext cx="591335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Email duy nhất • vai trò Admin / KhachHang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35402" y="3363049"/>
            <a:ext cx="3157147" cy="851059"/>
            <a:chOff x="0" y="0"/>
            <a:chExt cx="4209529" cy="11347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09542" cy="1134745"/>
            </a:xfrm>
            <a:custGeom>
              <a:avLst/>
              <a:gdLst/>
              <a:ahLst/>
              <a:cxnLst/>
              <a:rect l="l" t="t" r="r" b="b"/>
              <a:pathLst>
                <a:path w="420954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4073398" y="0"/>
                  </a:lnTo>
                  <a:cubicBezTo>
                    <a:pt x="4148582" y="0"/>
                    <a:pt x="4209542" y="60960"/>
                    <a:pt x="4209542" y="136144"/>
                  </a:cubicBezTo>
                  <a:lnTo>
                    <a:pt x="4209542" y="998601"/>
                  </a:lnTo>
                  <a:cubicBezTo>
                    <a:pt x="4209542" y="1073785"/>
                    <a:pt x="4148582" y="1134745"/>
                    <a:pt x="407339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01647" y="3559978"/>
            <a:ext cx="1908352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 err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LoaiPhong</a:t>
            </a:r>
            <a:endParaRPr lang="en-US" sz="3000" b="1" dirty="0">
              <a:solidFill>
                <a:srgbClr val="FFFFFF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4735716" y="3363049"/>
            <a:ext cx="11667715" cy="851059"/>
            <a:chOff x="0" y="0"/>
            <a:chExt cx="15556954" cy="11347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556992" cy="1134745"/>
            </a:xfrm>
            <a:custGeom>
              <a:avLst/>
              <a:gdLst/>
              <a:ahLst/>
              <a:cxnLst/>
              <a:rect l="l" t="t" r="r" b="b"/>
              <a:pathLst>
                <a:path w="1555699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420848" y="0"/>
                  </a:lnTo>
                  <a:cubicBezTo>
                    <a:pt x="15496032" y="0"/>
                    <a:pt x="15556992" y="60960"/>
                    <a:pt x="15556992" y="136144"/>
                  </a:cubicBezTo>
                  <a:lnTo>
                    <a:pt x="15556992" y="998601"/>
                  </a:lnTo>
                  <a:cubicBezTo>
                    <a:pt x="15556992" y="1073785"/>
                    <a:pt x="15496032" y="1134745"/>
                    <a:pt x="1542084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124612" y="3617376"/>
            <a:ext cx="4324188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Giá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mỗi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đêm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&gt; 0 •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sức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chứa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&gt; 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35402" y="4598451"/>
            <a:ext cx="3157147" cy="851059"/>
            <a:chOff x="0" y="0"/>
            <a:chExt cx="4209529" cy="11347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09542" cy="1134745"/>
            </a:xfrm>
            <a:custGeom>
              <a:avLst/>
              <a:gdLst/>
              <a:ahLst/>
              <a:cxnLst/>
              <a:rect l="l" t="t" r="r" b="b"/>
              <a:pathLst>
                <a:path w="420954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4073398" y="0"/>
                  </a:lnTo>
                  <a:cubicBezTo>
                    <a:pt x="4148582" y="0"/>
                    <a:pt x="4209542" y="60960"/>
                    <a:pt x="4209542" y="136144"/>
                  </a:cubicBezTo>
                  <a:lnTo>
                    <a:pt x="4209542" y="998601"/>
                  </a:lnTo>
                  <a:cubicBezTo>
                    <a:pt x="4209542" y="1073785"/>
                    <a:pt x="4148582" y="1134745"/>
                    <a:pt x="407339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71348" y="4795133"/>
            <a:ext cx="1157652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Phong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4735716" y="4598451"/>
            <a:ext cx="11667715" cy="851059"/>
            <a:chOff x="0" y="0"/>
            <a:chExt cx="15556954" cy="113474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556992" cy="1134745"/>
            </a:xfrm>
            <a:custGeom>
              <a:avLst/>
              <a:gdLst/>
              <a:ahLst/>
              <a:cxnLst/>
              <a:rect l="l" t="t" r="r" b="b"/>
              <a:pathLst>
                <a:path w="1555699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420848" y="0"/>
                  </a:lnTo>
                  <a:cubicBezTo>
                    <a:pt x="15496032" y="0"/>
                    <a:pt x="15556992" y="60960"/>
                    <a:pt x="15556992" y="136144"/>
                  </a:cubicBezTo>
                  <a:lnTo>
                    <a:pt x="15556992" y="998601"/>
                  </a:lnTo>
                  <a:cubicBezTo>
                    <a:pt x="15556992" y="1073785"/>
                    <a:pt x="15496032" y="1134745"/>
                    <a:pt x="1542084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124612" y="4852283"/>
            <a:ext cx="7720727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Số phòng duy nhất khi chưa xóa mềm • Sẵn sàng / Bảo trì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35402" y="5833853"/>
            <a:ext cx="3157147" cy="851059"/>
            <a:chOff x="0" y="0"/>
            <a:chExt cx="4209529" cy="113474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09542" cy="1134745"/>
            </a:xfrm>
            <a:custGeom>
              <a:avLst/>
              <a:gdLst/>
              <a:ahLst/>
              <a:cxnLst/>
              <a:rect l="l" t="t" r="r" b="b"/>
              <a:pathLst>
                <a:path w="420954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4073398" y="0"/>
                  </a:lnTo>
                  <a:cubicBezTo>
                    <a:pt x="4148582" y="0"/>
                    <a:pt x="4209542" y="60960"/>
                    <a:pt x="4209542" y="136144"/>
                  </a:cubicBezTo>
                  <a:lnTo>
                    <a:pt x="4209542" y="998601"/>
                  </a:lnTo>
                  <a:cubicBezTo>
                    <a:pt x="4209542" y="1073785"/>
                    <a:pt x="4148582" y="1134745"/>
                    <a:pt x="407339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57011" y="6030535"/>
            <a:ext cx="170021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DatPhong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735716" y="5833853"/>
            <a:ext cx="11667715" cy="851059"/>
            <a:chOff x="0" y="0"/>
            <a:chExt cx="15556954" cy="113474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556992" cy="1134745"/>
            </a:xfrm>
            <a:custGeom>
              <a:avLst/>
              <a:gdLst/>
              <a:ahLst/>
              <a:cxnLst/>
              <a:rect l="l" t="t" r="r" b="b"/>
              <a:pathLst>
                <a:path w="1555699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420848" y="0"/>
                  </a:lnTo>
                  <a:cubicBezTo>
                    <a:pt x="15496032" y="0"/>
                    <a:pt x="15556992" y="60960"/>
                    <a:pt x="15556992" y="136144"/>
                  </a:cubicBezTo>
                  <a:lnTo>
                    <a:pt x="15556992" y="998601"/>
                  </a:lnTo>
                  <a:cubicBezTo>
                    <a:pt x="15556992" y="1073785"/>
                    <a:pt x="15496032" y="1134745"/>
                    <a:pt x="1542084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124612" y="6087685"/>
            <a:ext cx="5162388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Ngày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trả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sau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ngày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nhận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•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số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khách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&gt; 0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35402" y="7069264"/>
            <a:ext cx="3157147" cy="851059"/>
            <a:chOff x="0" y="0"/>
            <a:chExt cx="4209529" cy="113474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09542" cy="1134745"/>
            </a:xfrm>
            <a:custGeom>
              <a:avLst/>
              <a:gdLst/>
              <a:ahLst/>
              <a:cxnLst/>
              <a:rect l="l" t="t" r="r" b="b"/>
              <a:pathLst>
                <a:path w="420954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4073398" y="0"/>
                  </a:lnTo>
                  <a:cubicBezTo>
                    <a:pt x="4148582" y="0"/>
                    <a:pt x="4209542" y="60960"/>
                    <a:pt x="4209542" y="136144"/>
                  </a:cubicBezTo>
                  <a:lnTo>
                    <a:pt x="4209542" y="998601"/>
                  </a:lnTo>
                  <a:cubicBezTo>
                    <a:pt x="4209542" y="1073785"/>
                    <a:pt x="4148582" y="1134745"/>
                    <a:pt x="407339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53750" y="7265937"/>
            <a:ext cx="15067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DanhGia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735716" y="7069264"/>
            <a:ext cx="11667715" cy="851059"/>
            <a:chOff x="0" y="0"/>
            <a:chExt cx="15556954" cy="11347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556992" cy="1134745"/>
            </a:xfrm>
            <a:custGeom>
              <a:avLst/>
              <a:gdLst/>
              <a:ahLst/>
              <a:cxnLst/>
              <a:rect l="l" t="t" r="r" b="b"/>
              <a:pathLst>
                <a:path w="15556992" h="1134745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15420848" y="0"/>
                  </a:lnTo>
                  <a:cubicBezTo>
                    <a:pt x="15496032" y="0"/>
                    <a:pt x="15556992" y="60960"/>
                    <a:pt x="15556992" y="136144"/>
                  </a:cubicBezTo>
                  <a:lnTo>
                    <a:pt x="15556992" y="998601"/>
                  </a:lnTo>
                  <a:cubicBezTo>
                    <a:pt x="15556992" y="1073785"/>
                    <a:pt x="15496032" y="1134745"/>
                    <a:pt x="1542084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124612" y="7323087"/>
            <a:ext cx="6610188" cy="377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Điểm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từ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1–5 •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mỗi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đặt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phòng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tối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đa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một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đánh</a:t>
            </a:r>
            <a:r>
              <a:rPr lang="en-US" sz="2499" dirty="0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499" dirty="0" err="1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giá</a:t>
            </a:r>
            <a:endParaRPr lang="en-US" sz="2499" dirty="0">
              <a:solidFill>
                <a:srgbClr val="23303C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418396" y="8634451"/>
            <a:ext cx="143216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Xóa mềm giúp bảo toàn lịch sử và liên kết của các đặt phòng đã lưu.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XÁC THỰC, PHÂN QUYỀN VÀ AN TOÀN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66774" y="2884922"/>
            <a:ext cx="5010255" cy="2127647"/>
            <a:chOff x="0" y="0"/>
            <a:chExt cx="6680340" cy="2836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80200" cy="2836799"/>
            </a:xfrm>
            <a:custGeom>
              <a:avLst/>
              <a:gdLst/>
              <a:ahLst/>
              <a:cxnLst/>
              <a:rect l="l" t="t" r="r" b="b"/>
              <a:pathLst>
                <a:path w="6680200" h="2836799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6339840" y="0"/>
                  </a:lnTo>
                  <a:cubicBezTo>
                    <a:pt x="6527800" y="0"/>
                    <a:pt x="6680200" y="152400"/>
                    <a:pt x="6680200" y="340360"/>
                  </a:cubicBezTo>
                  <a:lnTo>
                    <a:pt x="6680200" y="2496439"/>
                  </a:lnTo>
                  <a:cubicBezTo>
                    <a:pt x="6680200" y="2684399"/>
                    <a:pt x="6527800" y="2836799"/>
                    <a:pt x="6339840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6774" y="2884922"/>
            <a:ext cx="96088" cy="2127647"/>
            <a:chOff x="0" y="0"/>
            <a:chExt cx="128118" cy="28368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143" cy="2836799"/>
            </a:xfrm>
            <a:custGeom>
              <a:avLst/>
              <a:gdLst/>
              <a:ahLst/>
              <a:cxnLst/>
              <a:rect l="l" t="t" r="r" b="b"/>
              <a:pathLst>
                <a:path w="128143" h="283679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2821432"/>
                  </a:lnTo>
                  <a:cubicBezTo>
                    <a:pt x="128143" y="2829941"/>
                    <a:pt x="121285" y="2836799"/>
                    <a:pt x="112776" y="2836799"/>
                  </a:cubicBezTo>
                  <a:lnTo>
                    <a:pt x="15367" y="2836799"/>
                  </a:lnTo>
                  <a:cubicBezTo>
                    <a:pt x="6858" y="2836799"/>
                    <a:pt x="0" y="2829941"/>
                    <a:pt x="0" y="2821432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14475" y="3150270"/>
            <a:ext cx="38809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Cookie Authentication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4475" y="3736315"/>
            <a:ext cx="436974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Duy trì trạng thái đăng nhập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767274" y="2884922"/>
            <a:ext cx="5010255" cy="2127647"/>
            <a:chOff x="0" y="0"/>
            <a:chExt cx="6680340" cy="28368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80200" cy="2836799"/>
            </a:xfrm>
            <a:custGeom>
              <a:avLst/>
              <a:gdLst/>
              <a:ahLst/>
              <a:cxnLst/>
              <a:rect l="l" t="t" r="r" b="b"/>
              <a:pathLst>
                <a:path w="6680200" h="2836799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6339840" y="0"/>
                  </a:lnTo>
                  <a:cubicBezTo>
                    <a:pt x="6527800" y="0"/>
                    <a:pt x="6680200" y="152400"/>
                    <a:pt x="6680200" y="340360"/>
                  </a:cubicBezTo>
                  <a:lnTo>
                    <a:pt x="6680200" y="2496439"/>
                  </a:lnTo>
                  <a:cubicBezTo>
                    <a:pt x="6680200" y="2684399"/>
                    <a:pt x="6527800" y="2836799"/>
                    <a:pt x="6339840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67274" y="2884922"/>
            <a:ext cx="96088" cy="2127647"/>
            <a:chOff x="0" y="0"/>
            <a:chExt cx="128118" cy="28368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143" cy="2836799"/>
            </a:xfrm>
            <a:custGeom>
              <a:avLst/>
              <a:gdLst/>
              <a:ahLst/>
              <a:cxnLst/>
              <a:rect l="l" t="t" r="r" b="b"/>
              <a:pathLst>
                <a:path w="128143" h="283679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2821432"/>
                  </a:lnTo>
                  <a:cubicBezTo>
                    <a:pt x="128143" y="2829941"/>
                    <a:pt x="121285" y="2836799"/>
                    <a:pt x="112776" y="2836799"/>
                  </a:cubicBezTo>
                  <a:lnTo>
                    <a:pt x="15367" y="2836799"/>
                  </a:lnTo>
                  <a:cubicBezTo>
                    <a:pt x="6858" y="2836799"/>
                    <a:pt x="0" y="2829941"/>
                    <a:pt x="0" y="2821432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14984" y="3150270"/>
            <a:ext cx="403848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Phân quyền theo vai trò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14984" y="3736315"/>
            <a:ext cx="436974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KhachHang và Admin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367774" y="2884922"/>
            <a:ext cx="5010255" cy="2127647"/>
            <a:chOff x="0" y="0"/>
            <a:chExt cx="6680340" cy="28368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80200" cy="2836799"/>
            </a:xfrm>
            <a:custGeom>
              <a:avLst/>
              <a:gdLst/>
              <a:ahLst/>
              <a:cxnLst/>
              <a:rect l="l" t="t" r="r" b="b"/>
              <a:pathLst>
                <a:path w="6680200" h="2836799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6339840" y="0"/>
                  </a:lnTo>
                  <a:cubicBezTo>
                    <a:pt x="6527800" y="0"/>
                    <a:pt x="6680200" y="152400"/>
                    <a:pt x="6680200" y="340360"/>
                  </a:cubicBezTo>
                  <a:lnTo>
                    <a:pt x="6680200" y="2496439"/>
                  </a:lnTo>
                  <a:cubicBezTo>
                    <a:pt x="6680200" y="2684399"/>
                    <a:pt x="6527800" y="2836799"/>
                    <a:pt x="6339840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67774" y="2884922"/>
            <a:ext cx="96088" cy="2127647"/>
            <a:chOff x="0" y="0"/>
            <a:chExt cx="128118" cy="28368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143" cy="2836799"/>
            </a:xfrm>
            <a:custGeom>
              <a:avLst/>
              <a:gdLst/>
              <a:ahLst/>
              <a:cxnLst/>
              <a:rect l="l" t="t" r="r" b="b"/>
              <a:pathLst>
                <a:path w="128143" h="283679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2821432"/>
                  </a:lnTo>
                  <a:cubicBezTo>
                    <a:pt x="128143" y="2829941"/>
                    <a:pt x="121285" y="2836799"/>
                    <a:pt x="112776" y="2836799"/>
                  </a:cubicBezTo>
                  <a:lnTo>
                    <a:pt x="15367" y="2836799"/>
                  </a:lnTo>
                  <a:cubicBezTo>
                    <a:pt x="6858" y="2836799"/>
                    <a:pt x="0" y="2829941"/>
                    <a:pt x="0" y="2821432"/>
                  </a:cubicBezTo>
                  <a:close/>
                </a:path>
              </a:pathLst>
            </a:custGeom>
            <a:solidFill>
              <a:srgbClr val="C2605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715484" y="3150270"/>
            <a:ext cx="248007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Băm mật khẩu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15484" y="3736315"/>
            <a:ext cx="436974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PasswordHasher của ASP.NET Core Identity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66774" y="5698893"/>
            <a:ext cx="5010255" cy="2127647"/>
            <a:chOff x="0" y="0"/>
            <a:chExt cx="6680340" cy="283686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680200" cy="2836799"/>
            </a:xfrm>
            <a:custGeom>
              <a:avLst/>
              <a:gdLst/>
              <a:ahLst/>
              <a:cxnLst/>
              <a:rect l="l" t="t" r="r" b="b"/>
              <a:pathLst>
                <a:path w="6680200" h="2836799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6339840" y="0"/>
                  </a:lnTo>
                  <a:cubicBezTo>
                    <a:pt x="6527800" y="0"/>
                    <a:pt x="6680200" y="152400"/>
                    <a:pt x="6680200" y="340360"/>
                  </a:cubicBezTo>
                  <a:lnTo>
                    <a:pt x="6680200" y="2496439"/>
                  </a:lnTo>
                  <a:cubicBezTo>
                    <a:pt x="6680200" y="2684399"/>
                    <a:pt x="6527800" y="2836799"/>
                    <a:pt x="6339840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66774" y="5698893"/>
            <a:ext cx="96088" cy="2127647"/>
            <a:chOff x="0" y="0"/>
            <a:chExt cx="128118" cy="28368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8143" cy="2836799"/>
            </a:xfrm>
            <a:custGeom>
              <a:avLst/>
              <a:gdLst/>
              <a:ahLst/>
              <a:cxnLst/>
              <a:rect l="l" t="t" r="r" b="b"/>
              <a:pathLst>
                <a:path w="128143" h="283679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2821432"/>
                  </a:lnTo>
                  <a:cubicBezTo>
                    <a:pt x="128143" y="2829941"/>
                    <a:pt x="121285" y="2836799"/>
                    <a:pt x="112776" y="2836799"/>
                  </a:cubicBezTo>
                  <a:lnTo>
                    <a:pt x="15367" y="2836799"/>
                  </a:lnTo>
                  <a:cubicBezTo>
                    <a:pt x="6858" y="2836799"/>
                    <a:pt x="0" y="2829941"/>
                    <a:pt x="0" y="2821432"/>
                  </a:cubicBezTo>
                  <a:close/>
                </a:path>
              </a:pathLst>
            </a:custGeom>
            <a:solidFill>
              <a:srgbClr val="19344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14475" y="5964250"/>
            <a:ext cx="324743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Anti-Forgery Token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4475" y="6550295"/>
            <a:ext cx="436974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Bảo vệ biểu mẫu cập nhật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767274" y="5698893"/>
            <a:ext cx="5010255" cy="2127647"/>
            <a:chOff x="0" y="0"/>
            <a:chExt cx="6680340" cy="283686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680200" cy="2836799"/>
            </a:xfrm>
            <a:custGeom>
              <a:avLst/>
              <a:gdLst/>
              <a:ahLst/>
              <a:cxnLst/>
              <a:rect l="l" t="t" r="r" b="b"/>
              <a:pathLst>
                <a:path w="6680200" h="2836799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6339840" y="0"/>
                  </a:lnTo>
                  <a:cubicBezTo>
                    <a:pt x="6527800" y="0"/>
                    <a:pt x="6680200" y="152400"/>
                    <a:pt x="6680200" y="340360"/>
                  </a:cubicBezTo>
                  <a:lnTo>
                    <a:pt x="6680200" y="2496439"/>
                  </a:lnTo>
                  <a:cubicBezTo>
                    <a:pt x="6680200" y="2684399"/>
                    <a:pt x="6527800" y="2836799"/>
                    <a:pt x="6339840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67274" y="5698893"/>
            <a:ext cx="96088" cy="2127647"/>
            <a:chOff x="0" y="0"/>
            <a:chExt cx="128118" cy="283686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8143" cy="2836799"/>
            </a:xfrm>
            <a:custGeom>
              <a:avLst/>
              <a:gdLst/>
              <a:ahLst/>
              <a:cxnLst/>
              <a:rect l="l" t="t" r="r" b="b"/>
              <a:pathLst>
                <a:path w="128143" h="2836799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2821432"/>
                  </a:lnTo>
                  <a:cubicBezTo>
                    <a:pt x="128143" y="2829941"/>
                    <a:pt x="121285" y="2836799"/>
                    <a:pt x="112776" y="2836799"/>
                  </a:cubicBezTo>
                  <a:lnTo>
                    <a:pt x="15367" y="2836799"/>
                  </a:lnTo>
                  <a:cubicBezTo>
                    <a:pt x="6858" y="2836799"/>
                    <a:pt x="0" y="2829941"/>
                    <a:pt x="0" y="2821432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114984" y="5964250"/>
            <a:ext cx="383083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Kiểm tra phía máy chủ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14984" y="6550295"/>
            <a:ext cx="436974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Quyền sở hữu, dữ liệu và trạng thái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NHÓM CHỨC NĂNG KHÁCH HÀNG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04039" y="2031963"/>
            <a:ext cx="164725" cy="164725"/>
            <a:chOff x="0" y="0"/>
            <a:chExt cx="219634" cy="2196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34102" y="1885726"/>
            <a:ext cx="165580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Tài khoản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4102" y="2375464"/>
            <a:ext cx="643249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Đăng ký, đăng nhập, khôi phục mật khẩu, cập nhật hồ sơ và đổi mật khẩu.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04039" y="3569356"/>
            <a:ext cx="164725" cy="164725"/>
            <a:chOff x="0" y="0"/>
            <a:chExt cx="219634" cy="2196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34102" y="3423118"/>
            <a:ext cx="15672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Tìm kiếm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102" y="3912856"/>
            <a:ext cx="657792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Lọc theo ngày nhận, ngày trả, số khách; xem giá, tiện nghi và sức chứa.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13777" y="6439776"/>
            <a:ext cx="164725" cy="164725"/>
            <a:chOff x="0" y="0"/>
            <a:chExt cx="219634" cy="2196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346406" y="6293539"/>
            <a:ext cx="1845593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Đặt</a:t>
            </a:r>
            <a:r>
              <a:rPr lang="en-US" sz="3000" b="1" dirty="0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phòng</a:t>
            </a:r>
            <a:endParaRPr lang="en-US" sz="3000" b="1" dirty="0">
              <a:solidFill>
                <a:srgbClr val="23303C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50113" y="6779314"/>
            <a:ext cx="673966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Xem xác nhận, tổng tiền dự kiến, phương thức thanh toán và gửi yêu cầu.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913777" y="7977168"/>
            <a:ext cx="164725" cy="164725"/>
            <a:chOff x="0" y="0"/>
            <a:chExt cx="219634" cy="2196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441657" y="7830931"/>
            <a:ext cx="1521743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Theo </a:t>
            </a:r>
            <a:r>
              <a:rPr lang="en-US" sz="3000" b="1" dirty="0" err="1">
                <a:solidFill>
                  <a:srgbClr val="23303C"/>
                </a:solidFill>
                <a:latin typeface="Aptos Bold"/>
                <a:ea typeface="Aptos Bold"/>
                <a:cs typeface="Aptos Bold"/>
                <a:sym typeface="Aptos Bold"/>
              </a:rPr>
              <a:t>dõi</a:t>
            </a:r>
            <a:endParaRPr lang="en-US" sz="3000" b="1" dirty="0">
              <a:solidFill>
                <a:srgbClr val="23303C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441657" y="8316706"/>
            <a:ext cx="663717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Xem lịch sử, chi tiết; hủy khi đủ điều kiện; đánh giá sau khi hoàn thành.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585798" y="1207566"/>
            <a:ext cx="7137892" cy="4016721"/>
            <a:chOff x="0" y="0"/>
            <a:chExt cx="9517190" cy="5355628"/>
          </a:xfrm>
        </p:grpSpPr>
        <p:sp>
          <p:nvSpPr>
            <p:cNvPr id="26" name="Freeform 26" descr="img-013.jpg"/>
            <p:cNvSpPr/>
            <p:nvPr/>
          </p:nvSpPr>
          <p:spPr>
            <a:xfrm>
              <a:off x="0" y="0"/>
              <a:ext cx="9517253" cy="5355590"/>
            </a:xfrm>
            <a:custGeom>
              <a:avLst/>
              <a:gdLst/>
              <a:ahLst/>
              <a:cxnLst/>
              <a:rect l="l" t="t" r="r" b="b"/>
              <a:pathLst>
                <a:path w="9517253" h="5355590">
                  <a:moveTo>
                    <a:pt x="0" y="0"/>
                  </a:moveTo>
                  <a:lnTo>
                    <a:pt x="9517253" y="0"/>
                  </a:lnTo>
                  <a:lnTo>
                    <a:pt x="9517253" y="5355590"/>
                  </a:lnTo>
                  <a:lnTo>
                    <a:pt x="0" y="5355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913777" y="5271912"/>
            <a:ext cx="649738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1">
                <a:solidFill>
                  <a:srgbClr val="647784"/>
                </a:solidFill>
                <a:latin typeface="Aptos Bold"/>
                <a:ea typeface="Aptos Bold"/>
                <a:cs typeface="Aptos Bold"/>
                <a:sym typeface="Aptos Bold"/>
              </a:rPr>
              <a:t>Trang chủ HotelBooking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28700" y="5251097"/>
            <a:ext cx="7137892" cy="4016728"/>
            <a:chOff x="0" y="0"/>
            <a:chExt cx="4065499" cy="2287791"/>
          </a:xfrm>
        </p:grpSpPr>
        <p:sp>
          <p:nvSpPr>
            <p:cNvPr id="29" name="Freeform 29" descr="img-014.jpg"/>
            <p:cNvSpPr/>
            <p:nvPr/>
          </p:nvSpPr>
          <p:spPr>
            <a:xfrm>
              <a:off x="0" y="0"/>
              <a:ext cx="4065524" cy="2287778"/>
            </a:xfrm>
            <a:custGeom>
              <a:avLst/>
              <a:gdLst/>
              <a:ahLst/>
              <a:cxnLst/>
              <a:rect l="l" t="t" r="r" b="b"/>
              <a:pathLst>
                <a:path w="4065524" h="2287778">
                  <a:moveTo>
                    <a:pt x="0" y="0"/>
                  </a:moveTo>
                  <a:lnTo>
                    <a:pt x="4065524" y="0"/>
                  </a:lnTo>
                  <a:lnTo>
                    <a:pt x="4065524" y="2287778"/>
                  </a:lnTo>
                  <a:lnTo>
                    <a:pt x="0" y="228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MINH HỌA GIAO DIỆN KHÁCH HÀNG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2581732"/>
            <a:ext cx="5216157" cy="2935291"/>
            <a:chOff x="0" y="0"/>
            <a:chExt cx="6954876" cy="3913721"/>
          </a:xfrm>
        </p:grpSpPr>
        <p:sp>
          <p:nvSpPr>
            <p:cNvPr id="10" name="Freeform 10" descr="img-014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5220" y="6085475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Danh sách loại phòng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26098" y="2581732"/>
            <a:ext cx="5216157" cy="2935291"/>
            <a:chOff x="0" y="0"/>
            <a:chExt cx="6954876" cy="3913721"/>
          </a:xfrm>
        </p:grpSpPr>
        <p:sp>
          <p:nvSpPr>
            <p:cNvPr id="13" name="Freeform 13" descr="img-015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71818" y="6085475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Kết quả tìm phòng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422686" y="2581732"/>
            <a:ext cx="5216157" cy="2935291"/>
            <a:chOff x="0" y="0"/>
            <a:chExt cx="6954876" cy="3913721"/>
          </a:xfrm>
        </p:grpSpPr>
        <p:sp>
          <p:nvSpPr>
            <p:cNvPr id="16" name="Freeform 16" descr="img-016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68406" y="6085475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Chi tiết loại phòng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92931" y="7123700"/>
            <a:ext cx="15282491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Giao diện cung cấp thông tin phòng, giá và khả năng đáp ứng để khách lựa chọn trước khi xác nhận.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75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XÁC NHẬN VÀ THEO DÕI ĐẶT PHÒNG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2650369"/>
            <a:ext cx="5216157" cy="2935291"/>
            <a:chOff x="0" y="0"/>
            <a:chExt cx="6954876" cy="3913721"/>
          </a:xfrm>
        </p:grpSpPr>
        <p:sp>
          <p:nvSpPr>
            <p:cNvPr id="10" name="Freeform 10" descr="img-019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5220" y="6222749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Xác nhận đặt phòng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26098" y="2650369"/>
            <a:ext cx="5216157" cy="2935291"/>
            <a:chOff x="0" y="0"/>
            <a:chExt cx="6954876" cy="3913721"/>
          </a:xfrm>
        </p:grpSpPr>
        <p:sp>
          <p:nvSpPr>
            <p:cNvPr id="13" name="Freeform 13" descr="img-020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71818" y="6222749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Đặt phòng thành công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422686" y="2650369"/>
            <a:ext cx="5216157" cy="2935291"/>
            <a:chOff x="0" y="0"/>
            <a:chExt cx="6954876" cy="3913721"/>
          </a:xfrm>
        </p:grpSpPr>
        <p:sp>
          <p:nvSpPr>
            <p:cNvPr id="16" name="Freeform 16" descr="img-021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68406" y="6222749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Danh sách đặt phòng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94229" y="7529820"/>
            <a:ext cx="15099392" cy="1484512"/>
            <a:chOff x="0" y="0"/>
            <a:chExt cx="20132523" cy="197934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132422" cy="1979182"/>
            </a:xfrm>
            <a:custGeom>
              <a:avLst/>
              <a:gdLst/>
              <a:ahLst/>
              <a:cxnLst/>
              <a:rect l="l" t="t" r="r" b="b"/>
              <a:pathLst>
                <a:path w="20132422" h="1979182">
                  <a:moveTo>
                    <a:pt x="0" y="237459"/>
                  </a:moveTo>
                  <a:cubicBezTo>
                    <a:pt x="0" y="106368"/>
                    <a:pt x="88519" y="0"/>
                    <a:pt x="197612" y="0"/>
                  </a:cubicBezTo>
                  <a:lnTo>
                    <a:pt x="19934810" y="0"/>
                  </a:lnTo>
                  <a:cubicBezTo>
                    <a:pt x="20044029" y="0"/>
                    <a:pt x="20132422" y="106368"/>
                    <a:pt x="20132422" y="237459"/>
                  </a:cubicBezTo>
                  <a:lnTo>
                    <a:pt x="20132422" y="1741722"/>
                  </a:lnTo>
                  <a:cubicBezTo>
                    <a:pt x="20132422" y="1872966"/>
                    <a:pt x="20043902" y="1979182"/>
                    <a:pt x="19934810" y="1979182"/>
                  </a:cubicBezTo>
                  <a:lnTo>
                    <a:pt x="197612" y="1979182"/>
                  </a:lnTo>
                  <a:cubicBezTo>
                    <a:pt x="88519" y="1979334"/>
                    <a:pt x="0" y="1872966"/>
                    <a:pt x="0" y="174187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4229" y="7529820"/>
            <a:ext cx="96088" cy="1484512"/>
            <a:chOff x="0" y="0"/>
            <a:chExt cx="128118" cy="19793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8143" cy="1979334"/>
            </a:xfrm>
            <a:custGeom>
              <a:avLst/>
              <a:gdLst/>
              <a:ahLst/>
              <a:cxnLst/>
              <a:rect l="l" t="t" r="r" b="b"/>
              <a:pathLst>
                <a:path w="128143" h="1979334">
                  <a:moveTo>
                    <a:pt x="0" y="18466"/>
                  </a:moveTo>
                  <a:cubicBezTo>
                    <a:pt x="0" y="8241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8241"/>
                    <a:pt x="128143" y="18466"/>
                  </a:cubicBezTo>
                  <a:lnTo>
                    <a:pt x="128143" y="1960869"/>
                  </a:lnTo>
                  <a:cubicBezTo>
                    <a:pt x="128143" y="1971093"/>
                    <a:pt x="121285" y="1979334"/>
                    <a:pt x="112776" y="1979334"/>
                  </a:cubicBezTo>
                  <a:lnTo>
                    <a:pt x="15367" y="1979334"/>
                  </a:lnTo>
                  <a:cubicBezTo>
                    <a:pt x="6858" y="1979334"/>
                    <a:pt x="0" y="1971093"/>
                    <a:pt x="0" y="196086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41930" y="7795167"/>
            <a:ext cx="328727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LƯU Ý NGHIỆP VỤ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1930" y="8381212"/>
            <a:ext cx="1181159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Máy chủ tính lại tổng tiền và kiểm tra phòng trống trước khi lưu trạng thái Chờ xác nhận.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75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KHU VỰC QUẢN TRỊ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9500" y="2616051"/>
            <a:ext cx="5216157" cy="2935291"/>
            <a:chOff x="0" y="0"/>
            <a:chExt cx="6954876" cy="3913721"/>
          </a:xfrm>
        </p:grpSpPr>
        <p:sp>
          <p:nvSpPr>
            <p:cNvPr id="10" name="Freeform 10" descr="img-028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75220" y="6154112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Quản lý loại phòng / phòng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726098" y="2616051"/>
            <a:ext cx="5216157" cy="2935291"/>
            <a:chOff x="0" y="0"/>
            <a:chExt cx="6954876" cy="3913721"/>
          </a:xfrm>
        </p:grpSpPr>
        <p:sp>
          <p:nvSpPr>
            <p:cNvPr id="13" name="Freeform 13" descr="img-032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71818" y="6154112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Quản lý tài khoản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422686" y="2616051"/>
            <a:ext cx="5216157" cy="2935291"/>
            <a:chOff x="0" y="0"/>
            <a:chExt cx="6954876" cy="3913721"/>
          </a:xfrm>
        </p:grpSpPr>
        <p:sp>
          <p:nvSpPr>
            <p:cNvPr id="16" name="Freeform 16" descr="img-025.jpg"/>
            <p:cNvSpPr/>
            <p:nvPr/>
          </p:nvSpPr>
          <p:spPr>
            <a:xfrm>
              <a:off x="0" y="0"/>
              <a:ext cx="6954901" cy="3913759"/>
            </a:xfrm>
            <a:custGeom>
              <a:avLst/>
              <a:gdLst/>
              <a:ahLst/>
              <a:cxnLst/>
              <a:rect l="l" t="t" r="r" b="b"/>
              <a:pathLst>
                <a:path w="6954901" h="3913759">
                  <a:moveTo>
                    <a:pt x="0" y="0"/>
                  </a:moveTo>
                  <a:lnTo>
                    <a:pt x="6954901" y="0"/>
                  </a:lnTo>
                  <a:lnTo>
                    <a:pt x="6954901" y="3913759"/>
                  </a:lnTo>
                  <a:lnTo>
                    <a:pt x="0" y="3913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468406" y="6154112"/>
            <a:ext cx="512471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Quản lý đặt phòng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72676" y="7192804"/>
            <a:ext cx="164725" cy="164725"/>
            <a:chOff x="0" y="0"/>
            <a:chExt cx="219634" cy="2196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802740" y="7098954"/>
            <a:ext cx="1459615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Thêm, sửa, xóa mềm loại phòng và phòng vật lý.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72676" y="7783049"/>
            <a:ext cx="164725" cy="164725"/>
            <a:chOff x="0" y="0"/>
            <a:chExt cx="219634" cy="2196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02740" y="7689199"/>
            <a:ext cx="1459615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Lọc và cập nhật trạng thái đặt phòng theo điều kiện.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72676" y="8373304"/>
            <a:ext cx="164725" cy="164725"/>
            <a:chOff x="0" y="0"/>
            <a:chExt cx="219634" cy="2196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802740" y="8279454"/>
            <a:ext cx="1459615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Tìm tài khoản theo email; khóa/mở khóa tài khoản khác.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9759" y="5559323"/>
            <a:ext cx="6206128" cy="3584515"/>
            <a:chOff x="0" y="0"/>
            <a:chExt cx="6971386" cy="40265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1411" cy="4026535"/>
            </a:xfrm>
            <a:custGeom>
              <a:avLst/>
              <a:gdLst/>
              <a:ahLst/>
              <a:cxnLst/>
              <a:rect l="l" t="t" r="r" b="b"/>
              <a:pathLst>
                <a:path w="6971411" h="4026535">
                  <a:moveTo>
                    <a:pt x="0" y="0"/>
                  </a:moveTo>
                  <a:lnTo>
                    <a:pt x="6971411" y="0"/>
                  </a:lnTo>
                  <a:lnTo>
                    <a:pt x="6971411" y="4026535"/>
                  </a:lnTo>
                  <a:lnTo>
                    <a:pt x="0" y="402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21" r="-13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93574" y="6013223"/>
            <a:ext cx="7275166" cy="2676716"/>
            <a:chOff x="0" y="0"/>
            <a:chExt cx="9700222" cy="35689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00260" cy="3568954"/>
            </a:xfrm>
            <a:custGeom>
              <a:avLst/>
              <a:gdLst/>
              <a:ahLst/>
              <a:cxnLst/>
              <a:rect l="l" t="t" r="r" b="b"/>
              <a:pathLst>
                <a:path w="9700260" h="3568954">
                  <a:moveTo>
                    <a:pt x="0" y="428244"/>
                  </a:moveTo>
                  <a:cubicBezTo>
                    <a:pt x="0" y="191770"/>
                    <a:pt x="191770" y="0"/>
                    <a:pt x="428244" y="0"/>
                  </a:cubicBezTo>
                  <a:lnTo>
                    <a:pt x="9271889" y="0"/>
                  </a:lnTo>
                  <a:cubicBezTo>
                    <a:pt x="9508490" y="0"/>
                    <a:pt x="9700260" y="191770"/>
                    <a:pt x="9700260" y="428244"/>
                  </a:cubicBezTo>
                  <a:lnTo>
                    <a:pt x="9700260" y="3140710"/>
                  </a:lnTo>
                  <a:cubicBezTo>
                    <a:pt x="9700260" y="3377184"/>
                    <a:pt x="9508490" y="3568954"/>
                    <a:pt x="9272016" y="3568954"/>
                  </a:cubicBezTo>
                  <a:lnTo>
                    <a:pt x="428244" y="3568954"/>
                  </a:lnTo>
                  <a:cubicBezTo>
                    <a:pt x="191770" y="3568954"/>
                    <a:pt x="0" y="3377184"/>
                    <a:pt x="0" y="314071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93574" y="6013223"/>
            <a:ext cx="96088" cy="2676716"/>
            <a:chOff x="0" y="0"/>
            <a:chExt cx="128118" cy="35689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143" cy="3568954"/>
            </a:xfrm>
            <a:custGeom>
              <a:avLst/>
              <a:gdLst/>
              <a:ahLst/>
              <a:cxnLst/>
              <a:rect l="l" t="t" r="r" b="b"/>
              <a:pathLst>
                <a:path w="128143" h="3568954">
                  <a:moveTo>
                    <a:pt x="0" y="15367"/>
                  </a:moveTo>
                  <a:cubicBezTo>
                    <a:pt x="0" y="6858"/>
                    <a:pt x="6858" y="0"/>
                    <a:pt x="15367" y="0"/>
                  </a:cubicBezTo>
                  <a:lnTo>
                    <a:pt x="112776" y="0"/>
                  </a:lnTo>
                  <a:cubicBezTo>
                    <a:pt x="121285" y="0"/>
                    <a:pt x="128143" y="6858"/>
                    <a:pt x="128143" y="15367"/>
                  </a:cubicBezTo>
                  <a:lnTo>
                    <a:pt x="128143" y="3553587"/>
                  </a:lnTo>
                  <a:cubicBezTo>
                    <a:pt x="128143" y="3562096"/>
                    <a:pt x="121285" y="3568954"/>
                    <a:pt x="112776" y="3568954"/>
                  </a:cubicBezTo>
                  <a:lnTo>
                    <a:pt x="15367" y="3568954"/>
                  </a:lnTo>
                  <a:cubicBezTo>
                    <a:pt x="6858" y="3568954"/>
                    <a:pt x="0" y="3562096"/>
                    <a:pt x="0" y="3553587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547547" y="1514220"/>
            <a:ext cx="13084230" cy="3698296"/>
          </a:xfrm>
          <a:custGeom>
            <a:avLst/>
            <a:gdLst/>
            <a:ahLst/>
            <a:cxnLst/>
            <a:rect l="l" t="t" r="r" b="b"/>
            <a:pathLst>
              <a:path w="13084230" h="3698296">
                <a:moveTo>
                  <a:pt x="0" y="0"/>
                </a:moveTo>
                <a:lnTo>
                  <a:pt x="13084230" y="0"/>
                </a:lnTo>
                <a:lnTo>
                  <a:pt x="13084230" y="3698296"/>
                </a:lnTo>
                <a:lnTo>
                  <a:pt x="0" y="36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821" b="-90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VÒNG ĐỜI ĐẶT PHÒNG VÀ THỐNG KÊ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41275" y="6278580"/>
            <a:ext cx="391608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TỔNG QUAN QUẢN TRỊ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41275" y="6864625"/>
            <a:ext cx="6634658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Thống kê số đặt phòng theo trạng thái và tổng tiền các lượt hoàn thành, nhóm theo tháng/năm của ngày trả phòng.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KẾT QUẢ ĐẠT ĐƯỢC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04039" y="2127647"/>
            <a:ext cx="205902" cy="823608"/>
            <a:chOff x="0" y="0"/>
            <a:chExt cx="274536" cy="1098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447" cy="1098043"/>
            </a:xfrm>
            <a:custGeom>
              <a:avLst/>
              <a:gdLst/>
              <a:ahLst/>
              <a:cxnLst/>
              <a:rect l="l" t="t" r="r" b="b"/>
              <a:pathLst>
                <a:path w="274447" h="109804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41554" y="0"/>
                  </a:lnTo>
                  <a:cubicBezTo>
                    <a:pt x="259715" y="0"/>
                    <a:pt x="274447" y="14732"/>
                    <a:pt x="274447" y="32893"/>
                  </a:cubicBezTo>
                  <a:lnTo>
                    <a:pt x="274447" y="1065149"/>
                  </a:lnTo>
                  <a:cubicBezTo>
                    <a:pt x="274447" y="1083310"/>
                    <a:pt x="259715" y="1098042"/>
                    <a:pt x="241554" y="1098042"/>
                  </a:cubicBezTo>
                  <a:lnTo>
                    <a:pt x="32893" y="1098042"/>
                  </a:lnTo>
                  <a:cubicBezTo>
                    <a:pt x="14732" y="1098169"/>
                    <a:pt x="0" y="1083437"/>
                    <a:pt x="0" y="106514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15484" y="2310851"/>
            <a:ext cx="2908916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Nghiệp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vụ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cốt</a:t>
            </a:r>
            <a:r>
              <a:rPr lang="en-US" sz="3000" b="1" dirty="0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3000" b="1" dirty="0" err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lõi</a:t>
            </a:r>
            <a:endParaRPr lang="en-US" sz="3000" b="1" dirty="0">
              <a:solidFill>
                <a:srgbClr val="102338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86595" y="2363238"/>
            <a:ext cx="113017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Quy trình tìm phòng, đặt phòng, theo dõi và đánh giá.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04039" y="3431677"/>
            <a:ext cx="205902" cy="823608"/>
            <a:chOff x="0" y="0"/>
            <a:chExt cx="274536" cy="10981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4447" cy="1098043"/>
            </a:xfrm>
            <a:custGeom>
              <a:avLst/>
              <a:gdLst/>
              <a:ahLst/>
              <a:cxnLst/>
              <a:rect l="l" t="t" r="r" b="b"/>
              <a:pathLst>
                <a:path w="274447" h="109804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41554" y="0"/>
                  </a:lnTo>
                  <a:cubicBezTo>
                    <a:pt x="259715" y="0"/>
                    <a:pt x="274447" y="14732"/>
                    <a:pt x="274447" y="32893"/>
                  </a:cubicBezTo>
                  <a:lnTo>
                    <a:pt x="274447" y="1065149"/>
                  </a:lnTo>
                  <a:cubicBezTo>
                    <a:pt x="274447" y="1083310"/>
                    <a:pt x="259715" y="1098042"/>
                    <a:pt x="241554" y="1098042"/>
                  </a:cubicBezTo>
                  <a:lnTo>
                    <a:pt x="32893" y="1098042"/>
                  </a:lnTo>
                  <a:cubicBezTo>
                    <a:pt x="14732" y="1098169"/>
                    <a:pt x="0" y="1083437"/>
                    <a:pt x="0" y="1065149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30191" y="3614880"/>
            <a:ext cx="124634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Dữ liệu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86595" y="3667268"/>
            <a:ext cx="113017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5 bảng liên kết rõ ràng; giữ lịch sử bằng xóa mềm.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04039" y="4735716"/>
            <a:ext cx="205902" cy="823608"/>
            <a:chOff x="0" y="0"/>
            <a:chExt cx="274536" cy="1098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4447" cy="1098043"/>
            </a:xfrm>
            <a:custGeom>
              <a:avLst/>
              <a:gdLst/>
              <a:ahLst/>
              <a:cxnLst/>
              <a:rect l="l" t="t" r="r" b="b"/>
              <a:pathLst>
                <a:path w="274447" h="109804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41554" y="0"/>
                  </a:lnTo>
                  <a:cubicBezTo>
                    <a:pt x="259715" y="0"/>
                    <a:pt x="274447" y="14732"/>
                    <a:pt x="274447" y="32893"/>
                  </a:cubicBezTo>
                  <a:lnTo>
                    <a:pt x="274447" y="1065149"/>
                  </a:lnTo>
                  <a:cubicBezTo>
                    <a:pt x="274447" y="1083310"/>
                    <a:pt x="259715" y="1098042"/>
                    <a:pt x="241554" y="1098042"/>
                  </a:cubicBezTo>
                  <a:lnTo>
                    <a:pt x="32893" y="1098042"/>
                  </a:lnTo>
                  <a:cubicBezTo>
                    <a:pt x="14732" y="1098169"/>
                    <a:pt x="0" y="1083437"/>
                    <a:pt x="0" y="106514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830191" y="4918920"/>
            <a:ext cx="179474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Nhất quán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86595" y="4967287"/>
            <a:ext cx="113017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Kiểm tra phòng trống và lưu trong giao dịch Serializable.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04039" y="6039755"/>
            <a:ext cx="205902" cy="823608"/>
            <a:chOff x="0" y="0"/>
            <a:chExt cx="274536" cy="10981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4447" cy="1098043"/>
            </a:xfrm>
            <a:custGeom>
              <a:avLst/>
              <a:gdLst/>
              <a:ahLst/>
              <a:cxnLst/>
              <a:rect l="l" t="t" r="r" b="b"/>
              <a:pathLst>
                <a:path w="274447" h="109804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41554" y="0"/>
                  </a:lnTo>
                  <a:cubicBezTo>
                    <a:pt x="259715" y="0"/>
                    <a:pt x="274447" y="14732"/>
                    <a:pt x="274447" y="32893"/>
                  </a:cubicBezTo>
                  <a:lnTo>
                    <a:pt x="274447" y="1065149"/>
                  </a:lnTo>
                  <a:cubicBezTo>
                    <a:pt x="274447" y="1083310"/>
                    <a:pt x="259715" y="1098042"/>
                    <a:pt x="241554" y="1098042"/>
                  </a:cubicBezTo>
                  <a:lnTo>
                    <a:pt x="32893" y="1098042"/>
                  </a:lnTo>
                  <a:cubicBezTo>
                    <a:pt x="14732" y="1098169"/>
                    <a:pt x="0" y="1083437"/>
                    <a:pt x="0" y="1065149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30191" y="6222959"/>
            <a:ext cx="163961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Giao diện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86595" y="6275346"/>
            <a:ext cx="113017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Khu vực khách hàng và quản trị riêng trong cùng ứng dụng.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04039" y="7343794"/>
            <a:ext cx="205902" cy="823608"/>
            <a:chOff x="0" y="0"/>
            <a:chExt cx="274536" cy="10981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447" cy="1098043"/>
            </a:xfrm>
            <a:custGeom>
              <a:avLst/>
              <a:gdLst/>
              <a:ahLst/>
              <a:cxnLst/>
              <a:rect l="l" t="t" r="r" b="b"/>
              <a:pathLst>
                <a:path w="274447" h="1098043">
                  <a:moveTo>
                    <a:pt x="0" y="32893"/>
                  </a:moveTo>
                  <a:cubicBezTo>
                    <a:pt x="0" y="14732"/>
                    <a:pt x="14732" y="0"/>
                    <a:pt x="32893" y="0"/>
                  </a:cubicBezTo>
                  <a:lnTo>
                    <a:pt x="241554" y="0"/>
                  </a:lnTo>
                  <a:cubicBezTo>
                    <a:pt x="259715" y="0"/>
                    <a:pt x="274447" y="14732"/>
                    <a:pt x="274447" y="32893"/>
                  </a:cubicBezTo>
                  <a:lnTo>
                    <a:pt x="274447" y="1065149"/>
                  </a:lnTo>
                  <a:cubicBezTo>
                    <a:pt x="274447" y="1083310"/>
                    <a:pt x="259715" y="1098042"/>
                    <a:pt x="241554" y="1098042"/>
                  </a:cubicBezTo>
                  <a:lnTo>
                    <a:pt x="32893" y="1098042"/>
                  </a:lnTo>
                  <a:cubicBezTo>
                    <a:pt x="14732" y="1098169"/>
                    <a:pt x="0" y="1083437"/>
                    <a:pt x="0" y="1065149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862847" y="7526998"/>
            <a:ext cx="142636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Bảo mật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84666" y="7536523"/>
            <a:ext cx="1130173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3303C"/>
                </a:solidFill>
                <a:latin typeface="Aptos"/>
                <a:ea typeface="Aptos"/>
                <a:cs typeface="Aptos"/>
                <a:sym typeface="Aptos"/>
              </a:rPr>
              <a:t>Cookie, phân quyền vai trò, băm mật khẩu và chống giả mạo yêu cầu.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334804" y="-686333"/>
            <a:ext cx="2745343" cy="2745343"/>
            <a:chOff x="0" y="0"/>
            <a:chExt cx="3660458" cy="36604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0521" cy="3660521"/>
            </a:xfrm>
            <a:custGeom>
              <a:avLst/>
              <a:gdLst/>
              <a:ahLst/>
              <a:cxnLst/>
              <a:rect l="l" t="t" r="r" b="b"/>
              <a:pathLst>
                <a:path w="3660521" h="3660521">
                  <a:moveTo>
                    <a:pt x="0" y="1830197"/>
                  </a:moveTo>
                  <a:cubicBezTo>
                    <a:pt x="0" y="819404"/>
                    <a:pt x="819404" y="0"/>
                    <a:pt x="1830197" y="0"/>
                  </a:cubicBezTo>
                  <a:cubicBezTo>
                    <a:pt x="2840990" y="0"/>
                    <a:pt x="3660521" y="819404"/>
                    <a:pt x="3660521" y="1830197"/>
                  </a:cubicBezTo>
                  <a:cubicBezTo>
                    <a:pt x="3660521" y="2840990"/>
                    <a:pt x="2840990" y="3660521"/>
                    <a:pt x="1830197" y="3660521"/>
                  </a:cubicBezTo>
                  <a:cubicBezTo>
                    <a:pt x="819404" y="3660521"/>
                    <a:pt x="0" y="2840990"/>
                    <a:pt x="0" y="1830197"/>
                  </a:cubicBezTo>
                  <a:close/>
                </a:path>
              </a:pathLst>
            </a:custGeom>
            <a:solidFill>
              <a:srgbClr val="D8F1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089774" y="68637"/>
            <a:ext cx="892235" cy="892235"/>
            <a:chOff x="0" y="0"/>
            <a:chExt cx="1189647" cy="11896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89609" cy="1189609"/>
            </a:xfrm>
            <a:custGeom>
              <a:avLst/>
              <a:gdLst/>
              <a:ahLst/>
              <a:cxnLst/>
              <a:rect l="l" t="t" r="r" b="b"/>
              <a:pathLst>
                <a:path w="1189609" h="1189609">
                  <a:moveTo>
                    <a:pt x="0" y="594868"/>
                  </a:moveTo>
                  <a:cubicBezTo>
                    <a:pt x="0" y="266319"/>
                    <a:pt x="266319" y="0"/>
                    <a:pt x="594868" y="0"/>
                  </a:cubicBezTo>
                  <a:cubicBezTo>
                    <a:pt x="923417" y="0"/>
                    <a:pt x="1189609" y="266319"/>
                    <a:pt x="1189609" y="594868"/>
                  </a:cubicBezTo>
                  <a:cubicBezTo>
                    <a:pt x="1189609" y="923417"/>
                    <a:pt x="923290" y="1189609"/>
                    <a:pt x="594868" y="1189609"/>
                  </a:cubicBezTo>
                  <a:cubicBezTo>
                    <a:pt x="266446" y="1189609"/>
                    <a:pt x="0" y="923290"/>
                    <a:pt x="0" y="59486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7955" y="576863"/>
            <a:ext cx="1583156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HẠN CHẾ VÀ HƯỚNG PHÁT TRIỂN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66774" y="2927771"/>
            <a:ext cx="7755598" cy="5422059"/>
            <a:chOff x="0" y="0"/>
            <a:chExt cx="10340797" cy="72294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40848" cy="7229475"/>
            </a:xfrm>
            <a:custGeom>
              <a:avLst/>
              <a:gdLst/>
              <a:ahLst/>
              <a:cxnLst/>
              <a:rect l="l" t="t" r="r" b="b"/>
              <a:pathLst>
                <a:path w="10340848" h="7229475">
                  <a:moveTo>
                    <a:pt x="0" y="867537"/>
                  </a:moveTo>
                  <a:cubicBezTo>
                    <a:pt x="0" y="388366"/>
                    <a:pt x="388366" y="0"/>
                    <a:pt x="867537" y="0"/>
                  </a:cubicBezTo>
                  <a:lnTo>
                    <a:pt x="9473311" y="0"/>
                  </a:lnTo>
                  <a:cubicBezTo>
                    <a:pt x="9952482" y="0"/>
                    <a:pt x="10340848" y="388366"/>
                    <a:pt x="10340848" y="867537"/>
                  </a:cubicBezTo>
                  <a:lnTo>
                    <a:pt x="10340848" y="6361938"/>
                  </a:lnTo>
                  <a:cubicBezTo>
                    <a:pt x="10340848" y="6841109"/>
                    <a:pt x="9952482" y="7229475"/>
                    <a:pt x="9473311" y="7229475"/>
                  </a:cubicBezTo>
                  <a:lnTo>
                    <a:pt x="867537" y="7229475"/>
                  </a:lnTo>
                  <a:cubicBezTo>
                    <a:pt x="388366" y="7229348"/>
                    <a:pt x="0" y="6840982"/>
                    <a:pt x="0" y="636193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438956" y="3312438"/>
            <a:ext cx="321123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HẠN CHẾ HIỆN TẠI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4475" y="4204829"/>
            <a:ext cx="7115089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Chỉ hỗ trợ một khách sạn, một phòng/lượt đặt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Chưa tích hợp thanh toán trực tuyến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Khôi phục mật khẩu chưa xác minh qua email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Chưa có kiểm thử tải và phân tích deadlock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Ảnh dùng URL/đường dẫn, chưa tải trực tiếp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65539" y="2927771"/>
            <a:ext cx="7755598" cy="5422059"/>
            <a:chOff x="0" y="0"/>
            <a:chExt cx="10340797" cy="72294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40848" cy="7229475"/>
            </a:xfrm>
            <a:custGeom>
              <a:avLst/>
              <a:gdLst/>
              <a:ahLst/>
              <a:cxnLst/>
              <a:rect l="l" t="t" r="r" b="b"/>
              <a:pathLst>
                <a:path w="10340848" h="7229475">
                  <a:moveTo>
                    <a:pt x="0" y="867537"/>
                  </a:moveTo>
                  <a:cubicBezTo>
                    <a:pt x="0" y="388366"/>
                    <a:pt x="388366" y="0"/>
                    <a:pt x="867537" y="0"/>
                  </a:cubicBezTo>
                  <a:lnTo>
                    <a:pt x="9473311" y="0"/>
                  </a:lnTo>
                  <a:cubicBezTo>
                    <a:pt x="9952482" y="0"/>
                    <a:pt x="10340848" y="388366"/>
                    <a:pt x="10340848" y="867537"/>
                  </a:cubicBezTo>
                  <a:lnTo>
                    <a:pt x="10340848" y="6361938"/>
                  </a:lnTo>
                  <a:cubicBezTo>
                    <a:pt x="10340848" y="6841109"/>
                    <a:pt x="9952482" y="7229475"/>
                    <a:pt x="9473311" y="7229475"/>
                  </a:cubicBezTo>
                  <a:lnTo>
                    <a:pt x="867537" y="7229475"/>
                  </a:lnTo>
                  <a:cubicBezTo>
                    <a:pt x="388366" y="7229348"/>
                    <a:pt x="0" y="6840982"/>
                    <a:pt x="0" y="636193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352995" y="3312438"/>
            <a:ext cx="35806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102338"/>
                </a:solidFill>
                <a:latin typeface="Aptos Bold"/>
                <a:ea typeface="Aptos Bold"/>
                <a:cs typeface="Aptos Bold"/>
                <a:sym typeface="Aptos Bold"/>
              </a:rPr>
              <a:t>ƯU TIÊN PHÁT TRIỂN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13249" y="4228545"/>
            <a:ext cx="7087638" cy="323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Xác minh email và hoàn thiện khôi phục mật khẩu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Kiểm thử đồng thời, đánh giá thời gian chờ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Bổ sung migrations, sao lưu và khôi phục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Bổ sung lưu riêng đơn giá mỗi đêm tại thời điểm đặt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47784"/>
                </a:solidFill>
                <a:latin typeface="Aptos"/>
                <a:ea typeface="Aptos"/>
                <a:cs typeface="Aptos"/>
                <a:sym typeface="Aptos"/>
              </a:rPr>
              <a:t>• Cân nhắc thanh toán, nhiều phòng và tích hợp ngoài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64725" cy="10295039"/>
            <a:chOff x="0" y="0"/>
            <a:chExt cx="219634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583" cy="13726668"/>
            </a:xfrm>
            <a:custGeom>
              <a:avLst/>
              <a:gdLst/>
              <a:ahLst/>
              <a:cxnLst/>
              <a:rect l="l" t="t" r="r" b="b"/>
              <a:pathLst>
                <a:path w="219583" h="13726668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2494" y="2114255"/>
            <a:ext cx="1473342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HotelBooking hiện thực hóa quy trình đặt phòng dựa trên dữ liệu và khoảng thời gian lưu trú.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04039" y="4996529"/>
            <a:ext cx="164725" cy="164725"/>
            <a:chOff x="0" y="0"/>
            <a:chExt cx="219634" cy="2196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34102" y="4928235"/>
            <a:ext cx="1001541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Vận dụng ASP.NET Core MVC, EF Core và SQL Server vào bài toán thực tế.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04039" y="5751500"/>
            <a:ext cx="164725" cy="164725"/>
            <a:chOff x="0" y="0"/>
            <a:chExt cx="219634" cy="2196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102" y="5683196"/>
            <a:ext cx="881443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Tập trung vào kiểm tra khả dụng, giao dịch và vòng đời đặt phòng.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04039" y="6506470"/>
            <a:ext cx="164725" cy="164725"/>
            <a:chOff x="0" y="0"/>
            <a:chExt cx="219634" cy="2196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6416"/>
                  </a:moveTo>
                  <a:cubicBezTo>
                    <a:pt x="0" y="11811"/>
                    <a:pt x="11811" y="0"/>
                    <a:pt x="26416" y="0"/>
                  </a:cubicBezTo>
                  <a:lnTo>
                    <a:pt x="193294" y="0"/>
                  </a:lnTo>
                  <a:cubicBezTo>
                    <a:pt x="207899" y="0"/>
                    <a:pt x="219710" y="11811"/>
                    <a:pt x="219710" y="26416"/>
                  </a:cubicBezTo>
                  <a:lnTo>
                    <a:pt x="219710" y="193294"/>
                  </a:lnTo>
                  <a:cubicBezTo>
                    <a:pt x="219710" y="207899"/>
                    <a:pt x="207899" y="219710"/>
                    <a:pt x="193294" y="219710"/>
                  </a:cubicBezTo>
                  <a:lnTo>
                    <a:pt x="26416" y="219710"/>
                  </a:lnTo>
                  <a:cubicBezTo>
                    <a:pt x="11811" y="219583"/>
                    <a:pt x="0" y="207772"/>
                    <a:pt x="0" y="193294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34102" y="6438167"/>
            <a:ext cx="899422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Có nền tảng để tiếp tục hoàn thiện bảo mật, kiểm thử và vận hành.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494" y="8152667"/>
            <a:ext cx="979180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E0B15B"/>
                </a:solidFill>
                <a:latin typeface="Aptos Bold"/>
                <a:ea typeface="Aptos Bold"/>
                <a:cs typeface="Aptos Bold"/>
                <a:sym typeface="Aptos Bold"/>
              </a:rPr>
              <a:t>EM XIN CHÂN THÀNH CẢM ƠN!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582585" y="4818088"/>
            <a:ext cx="411804" cy="2196274"/>
            <a:chOff x="0" y="0"/>
            <a:chExt cx="549072" cy="29283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9148" cy="2928366"/>
            </a:xfrm>
            <a:custGeom>
              <a:avLst/>
              <a:gdLst/>
              <a:ahLst/>
              <a:cxnLst/>
              <a:rect l="l" t="t" r="r" b="b"/>
              <a:pathLst>
                <a:path w="549148" h="2928366">
                  <a:moveTo>
                    <a:pt x="0" y="65913"/>
                  </a:moveTo>
                  <a:cubicBezTo>
                    <a:pt x="0" y="29464"/>
                    <a:pt x="29464" y="0"/>
                    <a:pt x="65913" y="0"/>
                  </a:cubicBezTo>
                  <a:lnTo>
                    <a:pt x="483235" y="0"/>
                  </a:lnTo>
                  <a:cubicBezTo>
                    <a:pt x="519684" y="0"/>
                    <a:pt x="549148" y="29464"/>
                    <a:pt x="549148" y="65913"/>
                  </a:cubicBezTo>
                  <a:lnTo>
                    <a:pt x="549148" y="2862453"/>
                  </a:lnTo>
                  <a:cubicBezTo>
                    <a:pt x="549148" y="2898902"/>
                    <a:pt x="519684" y="2928366"/>
                    <a:pt x="483235" y="2928366"/>
                  </a:cubicBezTo>
                  <a:lnTo>
                    <a:pt x="65913" y="2928366"/>
                  </a:lnTo>
                  <a:cubicBezTo>
                    <a:pt x="29464" y="2928366"/>
                    <a:pt x="0" y="2898902"/>
                    <a:pt x="0" y="2862453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337555" y="5161255"/>
            <a:ext cx="411804" cy="1811931"/>
            <a:chOff x="0" y="0"/>
            <a:chExt cx="549072" cy="24159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9148" cy="2415921"/>
            </a:xfrm>
            <a:custGeom>
              <a:avLst/>
              <a:gdLst/>
              <a:ahLst/>
              <a:cxnLst/>
              <a:rect l="l" t="t" r="r" b="b"/>
              <a:pathLst>
                <a:path w="549148" h="2415921">
                  <a:moveTo>
                    <a:pt x="0" y="65913"/>
                  </a:moveTo>
                  <a:cubicBezTo>
                    <a:pt x="0" y="29464"/>
                    <a:pt x="29464" y="0"/>
                    <a:pt x="65913" y="0"/>
                  </a:cubicBezTo>
                  <a:lnTo>
                    <a:pt x="483235" y="0"/>
                  </a:lnTo>
                  <a:cubicBezTo>
                    <a:pt x="519684" y="0"/>
                    <a:pt x="549148" y="29464"/>
                    <a:pt x="549148" y="65913"/>
                  </a:cubicBezTo>
                  <a:lnTo>
                    <a:pt x="549148" y="2350008"/>
                  </a:lnTo>
                  <a:cubicBezTo>
                    <a:pt x="549148" y="2386457"/>
                    <a:pt x="519684" y="2415921"/>
                    <a:pt x="483235" y="2415921"/>
                  </a:cubicBezTo>
                  <a:lnTo>
                    <a:pt x="65913" y="2415921"/>
                  </a:lnTo>
                  <a:cubicBezTo>
                    <a:pt x="29464" y="2415921"/>
                    <a:pt x="0" y="2386457"/>
                    <a:pt x="0" y="235000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092526" y="5504421"/>
            <a:ext cx="411804" cy="1427578"/>
            <a:chOff x="0" y="0"/>
            <a:chExt cx="549072" cy="19034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9148" cy="1903476"/>
            </a:xfrm>
            <a:custGeom>
              <a:avLst/>
              <a:gdLst/>
              <a:ahLst/>
              <a:cxnLst/>
              <a:rect l="l" t="t" r="r" b="b"/>
              <a:pathLst>
                <a:path w="549148" h="1903476">
                  <a:moveTo>
                    <a:pt x="0" y="65913"/>
                  </a:moveTo>
                  <a:cubicBezTo>
                    <a:pt x="0" y="29464"/>
                    <a:pt x="29464" y="0"/>
                    <a:pt x="65913" y="0"/>
                  </a:cubicBezTo>
                  <a:lnTo>
                    <a:pt x="483235" y="0"/>
                  </a:lnTo>
                  <a:cubicBezTo>
                    <a:pt x="519684" y="0"/>
                    <a:pt x="549148" y="29464"/>
                    <a:pt x="549148" y="65913"/>
                  </a:cubicBezTo>
                  <a:lnTo>
                    <a:pt x="549148" y="1837563"/>
                  </a:lnTo>
                  <a:cubicBezTo>
                    <a:pt x="549148" y="1874012"/>
                    <a:pt x="519684" y="1903476"/>
                    <a:pt x="483235" y="1903476"/>
                  </a:cubicBezTo>
                  <a:lnTo>
                    <a:pt x="65913" y="1903476"/>
                  </a:lnTo>
                  <a:cubicBezTo>
                    <a:pt x="29464" y="1903476"/>
                    <a:pt x="0" y="1874012"/>
                    <a:pt x="0" y="1837563"/>
                  </a:cubicBezTo>
                  <a:close/>
                </a:path>
              </a:pathLst>
            </a:custGeom>
            <a:solidFill>
              <a:srgbClr val="239B9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847496" y="5847588"/>
            <a:ext cx="411804" cy="1043235"/>
            <a:chOff x="0" y="0"/>
            <a:chExt cx="549072" cy="13909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148" cy="1391031"/>
            </a:xfrm>
            <a:custGeom>
              <a:avLst/>
              <a:gdLst/>
              <a:ahLst/>
              <a:cxnLst/>
              <a:rect l="l" t="t" r="r" b="b"/>
              <a:pathLst>
                <a:path w="549148" h="1391031">
                  <a:moveTo>
                    <a:pt x="0" y="65913"/>
                  </a:moveTo>
                  <a:cubicBezTo>
                    <a:pt x="0" y="29464"/>
                    <a:pt x="29464" y="0"/>
                    <a:pt x="65913" y="0"/>
                  </a:cubicBezTo>
                  <a:lnTo>
                    <a:pt x="483235" y="0"/>
                  </a:lnTo>
                  <a:cubicBezTo>
                    <a:pt x="519684" y="0"/>
                    <a:pt x="549148" y="29464"/>
                    <a:pt x="549148" y="65913"/>
                  </a:cubicBezTo>
                  <a:lnTo>
                    <a:pt x="549148" y="1325118"/>
                  </a:lnTo>
                  <a:cubicBezTo>
                    <a:pt x="549148" y="1361567"/>
                    <a:pt x="519684" y="1391031"/>
                    <a:pt x="483235" y="1391031"/>
                  </a:cubicBezTo>
                  <a:lnTo>
                    <a:pt x="65913" y="1391031"/>
                  </a:lnTo>
                  <a:cubicBezTo>
                    <a:pt x="29464" y="1391031"/>
                    <a:pt x="0" y="1361567"/>
                    <a:pt x="0" y="1325118"/>
                  </a:cubicBezTo>
                  <a:close/>
                </a:path>
              </a:pathLst>
            </a:custGeom>
            <a:solidFill>
              <a:srgbClr val="E0B15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1388</Words>
  <Application>Microsoft Office PowerPoint</Application>
  <PresentationFormat>Custom</PresentationFormat>
  <Paragraphs>208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Bold</vt:lpstr>
      <vt:lpstr>Calibri</vt:lpstr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Hồ Thị Kim Oanh - MSSV: 170125259</dc:title>
  <cp:lastModifiedBy>Tan Dat</cp:lastModifiedBy>
  <cp:revision>22</cp:revision>
  <dcterms:created xsi:type="dcterms:W3CDTF">2006-08-16T00:00:00Z</dcterms:created>
  <dcterms:modified xsi:type="dcterms:W3CDTF">2026-10-25T11:27:15Z</dcterms:modified>
  <dc:identifier>DAHYzMc1yAQ</dc:identifier>
</cp:coreProperties>
</file>